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7620000" cx="13546125"/>
  <p:notesSz cx="6858000" cy="9144000"/>
  <p:embeddedFontLst>
    <p:embeddedFont>
      <p:font typeface="Century Gothic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iDUxFkhQmaawF2Sd+W7dw+Bby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CenturyGothic-bold.fntdata"/><Relationship Id="rId63" Type="http://schemas.openxmlformats.org/officeDocument/2006/relationships/font" Target="fonts/CenturyGothic-regular.fntdata"/><Relationship Id="rId22" Type="http://schemas.openxmlformats.org/officeDocument/2006/relationships/slide" Target="slides/slide17.xml"/><Relationship Id="rId66" Type="http://schemas.openxmlformats.org/officeDocument/2006/relationships/font" Target="fonts/CenturyGothic-boldItalic.fntdata"/><Relationship Id="rId21" Type="http://schemas.openxmlformats.org/officeDocument/2006/relationships/slide" Target="slides/slide16.xml"/><Relationship Id="rId65" Type="http://schemas.openxmlformats.org/officeDocument/2006/relationships/font" Target="fonts/CenturyGothic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make-your-knn-smooth-with-gaussian-kernel-7673fceb26b9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2"/>
              </a:rPr>
              <a:t>https://towardsdatascience.com/make-your-knn-smooth-with-gaussian-kernel-7673fceb26b9</a:t>
            </a:r>
            <a:endParaRPr/>
          </a:p>
        </p:txBody>
      </p:sp>
      <p:sp>
        <p:nvSpPr>
          <p:cNvPr id="223" name="Google Shape;223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6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6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7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9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9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0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1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1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2"/>
          <p:cNvSpPr txBox="1"/>
          <p:nvPr>
            <p:ph idx="12" type="sldNum"/>
          </p:nvPr>
        </p:nvSpPr>
        <p:spPr>
          <a:xfrm>
            <a:off x="9956340" y="7027283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5" name="Google Shape;35;p82"/>
          <p:cNvSpPr/>
          <p:nvPr/>
        </p:nvSpPr>
        <p:spPr>
          <a:xfrm flipH="1" rot="5400000">
            <a:off x="-185538" y="372559"/>
            <a:ext cx="685878" cy="314805"/>
          </a:xfrm>
          <a:prstGeom prst="rect">
            <a:avLst/>
          </a:prstGeom>
          <a:solidFill>
            <a:srgbClr val="FFC101"/>
          </a:solidFill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Times New Roman"/>
              <a:buNone/>
            </a:pPr>
            <a:r>
              <a:t/>
            </a:r>
            <a:endParaRPr sz="1556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" name="Google Shape;36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3167" y="6374007"/>
            <a:ext cx="1477912" cy="9864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82"/>
          <p:cNvGrpSpPr/>
          <p:nvPr/>
        </p:nvGrpSpPr>
        <p:grpSpPr>
          <a:xfrm>
            <a:off x="-3" y="7512150"/>
            <a:ext cx="13546139" cy="107850"/>
            <a:chOff x="0" y="6760908"/>
            <a:chExt cx="12192000" cy="97090"/>
          </a:xfrm>
        </p:grpSpPr>
        <p:sp>
          <p:nvSpPr>
            <p:cNvPr id="38" name="Google Shape;38;p82"/>
            <p:cNvSpPr/>
            <p:nvPr/>
          </p:nvSpPr>
          <p:spPr>
            <a:xfrm rot="5400000">
              <a:off x="770534" y="5990373"/>
              <a:ext cx="97069" cy="1638138"/>
            </a:xfrm>
            <a:prstGeom prst="rect">
              <a:avLst/>
            </a:prstGeom>
            <a:solidFill>
              <a:srgbClr val="FFC10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6"/>
                <a:buFont typeface="Times New Roman"/>
                <a:buNone/>
              </a:pPr>
              <a:r>
                <a:t/>
              </a:r>
              <a:endParaRPr sz="1556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82"/>
            <p:cNvSpPr/>
            <p:nvPr/>
          </p:nvSpPr>
          <p:spPr>
            <a:xfrm rot="5400000">
              <a:off x="6866536" y="1532534"/>
              <a:ext cx="97063" cy="10553864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6"/>
                <a:buFont typeface="Times New Roman"/>
                <a:buNone/>
              </a:pPr>
              <a:r>
                <a:t/>
              </a:r>
              <a:endParaRPr sz="1556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0" name="Google Shape;40;p82"/>
          <p:cNvSpPr txBox="1"/>
          <p:nvPr>
            <p:ph type="title"/>
          </p:nvPr>
        </p:nvSpPr>
        <p:spPr>
          <a:xfrm>
            <a:off x="442649" y="187023"/>
            <a:ext cx="12561573" cy="685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3556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2"/>
          <p:cNvSpPr txBox="1"/>
          <p:nvPr>
            <p:ph idx="1" type="body"/>
          </p:nvPr>
        </p:nvSpPr>
        <p:spPr>
          <a:xfrm>
            <a:off x="442719" y="1155348"/>
            <a:ext cx="12561573" cy="496534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3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3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83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8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4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4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52" name="Google Shape;52;p84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" name="Google Shape;53;p84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54" name="Google Shape;54;p84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84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4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4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5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7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7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70" name="Google Shape;70;p87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8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88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8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9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9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8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0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0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9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8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8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7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7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Relationship Id="rId4" Type="http://schemas.openxmlformats.org/officeDocument/2006/relationships/image" Target="../media/image28.png"/><Relationship Id="rId5" Type="http://schemas.openxmlformats.org/officeDocument/2006/relationships/image" Target="../media/image47.png"/><Relationship Id="rId6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jpg"/><Relationship Id="rId4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9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491595" y="3258928"/>
            <a:ext cx="12563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Técnicas de vecinos más cercanos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719999" y="0"/>
            <a:ext cx="1109363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 centra en el estudio de algoritmos que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aprenden inductivamente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mejorando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su rendimiento en una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tarea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a través de la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24395" y="2435165"/>
            <a:ext cx="4953375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Sistemas dedicados a resolver tareas/problemas.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Mejoran rendimiento con la experiencia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(mientras más datos mejor*).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Buscan aprendizaje más que modelamiento de datos (representaciones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útiles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del mundo)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Sólidas bases teóricas (aunque siempre van atrasadas con respecto a la práctica)</a:t>
            </a:r>
            <a:endParaRPr/>
          </a:p>
        </p:txBody>
      </p:sp>
      <p:pic>
        <p:nvPicPr>
          <p:cNvPr descr="classification.png"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3707" y="3023792"/>
            <a:ext cx="2304058" cy="182753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pic>
        <p:nvPicPr>
          <p:cNvPr descr="clustering.png"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8369" y="4732925"/>
            <a:ext cx="2361082" cy="1811907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pic>
        <p:nvPicPr>
          <p:cNvPr descr="regression.png" id="111" name="Google Shape;11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8369" y="1793777"/>
            <a:ext cx="2361082" cy="176264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sp>
        <p:nvSpPr>
          <p:cNvPr id="112" name="Google Shape;112;p2"/>
          <p:cNvSpPr txBox="1"/>
          <p:nvPr/>
        </p:nvSpPr>
        <p:spPr>
          <a:xfrm>
            <a:off x="398399" y="7005588"/>
            <a:ext cx="3216275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baseline="30000" i="0" lang="es-E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s-E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aunque en realidad, esto no es siempre así</a:t>
            </a:r>
            <a:endParaRPr b="0" i="0" sz="13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734" y="944199"/>
            <a:ext cx="6048672" cy="5731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607" y="943200"/>
            <a:ext cx="6047404" cy="57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4355" y="959120"/>
            <a:ext cx="6047404" cy="57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0001" y="931476"/>
            <a:ext cx="6047404" cy="57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5188893" y="1577752"/>
            <a:ext cx="3096344" cy="4208421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Algoritmo de aprendizaje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20000" y="170692"/>
            <a:ext cx="80648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que Machine Learning se centra en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algoritmos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mejoran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su rendimiento en una tarea, a través de la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830022" y="6618312"/>
            <a:ext cx="991884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Buscamos, en el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espacio de hipótesis 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del modelo,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aquella que genera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solución con mejor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usando el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sesgo inductivo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los datos de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para guiar la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581687" y="2609676"/>
            <a:ext cx="2415518" cy="830997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Modelo predictivo</a:t>
            </a:r>
            <a:endParaRPr/>
          </a:p>
          <a:p>
            <a:pPr indent="-180000" lvl="0" marL="180000" marR="0" rtl="0" algn="l">
              <a:spcBef>
                <a:spcPts val="300"/>
              </a:spcBef>
              <a:spcAft>
                <a:spcPts val="0"/>
              </a:spcAft>
              <a:buClr>
                <a:srgbClr val="E36C0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Espacio de hipótesis</a:t>
            </a:r>
            <a:endParaRPr/>
          </a:p>
          <a:p>
            <a:pPr indent="-180000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Sesgo inductivo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800931" y="3080633"/>
            <a:ext cx="1728192" cy="129614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 de entrenamiento </a:t>
            </a: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(Training Set)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941421" y="3080633"/>
            <a:ext cx="1728192" cy="129614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 a la tarea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548933" y="3728705"/>
            <a:ext cx="2448272" cy="720080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Técnica de búsqueda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548933" y="4808825"/>
            <a:ext cx="2448272" cy="720080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Evaluación rendimiento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505253" y="3532549"/>
            <a:ext cx="1216152" cy="4846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868011" y="3532549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/>
        </p:nvSpPr>
        <p:spPr>
          <a:xfrm>
            <a:off x="720000" y="209600"/>
            <a:ext cx="6680742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set de datos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MNIST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permite construir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clasificadores de dígitos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 partir de imágenes (OCR)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simonwinder.com/wp-content/uploads/2015/07/mnistExamples.png"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2698" y="1577752"/>
            <a:ext cx="6680741" cy="3743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2452588" y="5825545"/>
            <a:ext cx="8640960" cy="1512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MNIST es un set de datos compuesto de imágenes de dígitos escritos a mano.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imagen muestra un sólo dígito entre 0 y 9. Las imágenes son binarias con una resolución de 28x28=784 pixeles.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dataset consta de 60.000 ejemplos de entrenamiento y 10.000 de test.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720000" y="209600"/>
            <a:ext cx="6680742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set de datos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MNIST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permite construir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clasificadores de dígitos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 partir de imágenes (OCR)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simonwinder.com/wp-content/uploads/2015/07/mnistExamples.png"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2698" y="1577752"/>
            <a:ext cx="6680741" cy="3743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2452589" y="5826224"/>
            <a:ext cx="8640960" cy="1512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podríamos resolver este problema (clasificación de dígitos)?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Quizá, visualizar el espacio de características nos da una pista.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1892527" y="209600"/>
            <a:ext cx="92730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¿Es posible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visualizar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directamente el espacio de características de MNIST?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3089424" y="743534"/>
            <a:ext cx="8064896" cy="6132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6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1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6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124997" y="6630564"/>
            <a:ext cx="12961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6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666" y="1290156"/>
            <a:ext cx="5585709" cy="478687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719999" y="209600"/>
            <a:ext cx="864535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Usando técnicas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supervisadas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reducción de dimensionalidad (como tSNE o PCA), es posible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transformar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el espacio de características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719999" y="209600"/>
            <a:ext cx="864535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Usando técnicas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supervisadas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reducción de dimensionalidad (como tSNE o PCA), es posible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transformar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el espacio de características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fabian-keller.de/content/5-research/4-high-dimensional-data-visualization/mnist_tsne.png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666" y="1289720"/>
            <a:ext cx="5585709" cy="478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3172669" y="6257492"/>
            <a:ext cx="7416824" cy="80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6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podríamos resolver este problema? </a:t>
            </a:r>
            <a:endParaRPr/>
          </a:p>
          <a:p>
            <a:pPr indent="0" lvl="1" marL="114296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(aka cuál es el algoritmo más simple que podríamos usar)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k-NN es conocido de muchos nombres distintos</a:t>
            </a:r>
            <a:endParaRPr/>
          </a:p>
        </p:txBody>
      </p:sp>
      <p:sp>
        <p:nvSpPr>
          <p:cNvPr id="174" name="Google Shape;174;p29"/>
          <p:cNvSpPr txBox="1"/>
          <p:nvPr/>
        </p:nvSpPr>
        <p:spPr>
          <a:xfrm>
            <a:off x="720000" y="2873900"/>
            <a:ext cx="5981061" cy="2015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k-vecinos más cercanos (k-Nearest Neighbors)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Aprendizaje basado en memoria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Aprendizaje basado en instancias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Razonamiento basado en casos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441848"/>
            <a:ext cx="4444648" cy="33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720000" y="648315"/>
            <a:ext cx="12141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k-NN es la simpleza hecha algoritmo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719999" y="2598926"/>
            <a:ext cx="576503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k-NN es el algoritmo más intuitivo y simple en ML.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Entrenamiento consiste únicamente en almacenar los datos de entrenamiento.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inferencia sobre un nuevo ejemplo se basa directamente en la información de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ejemplos similares conocidos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Pertenece al área de aprendizaje supervisado.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Puede ser utilizado tanto para clasificación como para regresión.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441848"/>
            <a:ext cx="4444648" cy="33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Veamos un ejemplo simple: ¿irá Mario al paseo?</a:t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645" y="1865785"/>
            <a:ext cx="7352416" cy="4892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/>
        </p:nvSpPr>
        <p:spPr>
          <a:xfrm>
            <a:off x="720000" y="648315"/>
            <a:ext cx="1016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Continuemos: ¿si k=3, a qué clase corresponde el ejemplo del centro?</a:t>
            </a:r>
            <a:endParaRPr/>
          </a:p>
        </p:txBody>
      </p:sp>
      <p:pic>
        <p:nvPicPr>
          <p:cNvPr id="194" name="Google Shape;19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918" y="1617785"/>
            <a:ext cx="4838303" cy="445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/>
          <p:nvPr/>
        </p:nvSpPr>
        <p:spPr>
          <a:xfrm>
            <a:off x="1944032" y="6690320"/>
            <a:ext cx="96580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Voto de mayoría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elegir la categoría más votada dentro de los k vecinos más cercanos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/>
        </p:nvSpPr>
        <p:spPr>
          <a:xfrm>
            <a:off x="720000" y="648315"/>
            <a:ext cx="1016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¿Cuál es el problema con este esquema?</a:t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4171779" y="6585458"/>
            <a:ext cx="5202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corregir esta situación?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2629" y="3002318"/>
            <a:ext cx="3632280" cy="241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5241" y="2945905"/>
            <a:ext cx="3248308" cy="284913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/>
          <p:nvPr/>
        </p:nvSpPr>
        <p:spPr>
          <a:xfrm>
            <a:off x="7862189" y="1865290"/>
            <a:ext cx="30243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¿Si k=8, cuál es la categoría del ejemplo central?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3028653" y="2019178"/>
            <a:ext cx="30243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haría Mario con k=5?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/>
        </p:nvSpPr>
        <p:spPr>
          <a:xfrm>
            <a:off x="720000" y="648315"/>
            <a:ext cx="1016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considerar también información geométrica</a:t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779" y="1627886"/>
            <a:ext cx="5014936" cy="436422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/>
          <p:nvPr/>
        </p:nvSpPr>
        <p:spPr>
          <a:xfrm>
            <a:off x="4171779" y="6585458"/>
            <a:ext cx="5202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Voto de mayoría con peso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cada voto es pesado proporcionalmente al inverso de su distancia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720000" y="648315"/>
            <a:ext cx="1016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Regresión con kNN plantea otros problemas</a:t>
            </a:r>
            <a:endParaRPr/>
          </a:p>
        </p:txBody>
      </p:sp>
      <p:sp>
        <p:nvSpPr>
          <p:cNvPr id="218" name="Google Shape;218;p35"/>
          <p:cNvSpPr/>
          <p:nvPr/>
        </p:nvSpPr>
        <p:spPr>
          <a:xfrm>
            <a:off x="4171779" y="6585458"/>
            <a:ext cx="5202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Claramente esta no es una buena estimación,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¿podemos suavizarla de alguna manera?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857" y="2115860"/>
            <a:ext cx="8896424" cy="338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720000" y="648315"/>
            <a:ext cx="1016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Regresión con kNN plantea otros problemas</a:t>
            </a:r>
            <a:endParaRPr/>
          </a:p>
        </p:txBody>
      </p:sp>
      <p:pic>
        <p:nvPicPr>
          <p:cNvPr id="226" name="Google Shape;2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971" y="3446056"/>
            <a:ext cx="8762196" cy="33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/>
        </p:nvSpPr>
        <p:spPr>
          <a:xfrm>
            <a:off x="720000" y="1486288"/>
            <a:ext cx="8568952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pesar cada vecino usando un </a:t>
            </a:r>
            <a:r>
              <a:rPr i="1"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gaussiano:</a:t>
            </a:r>
            <a:endParaRPr/>
          </a:p>
          <a:p>
            <a:pPr indent="-359991" lvl="0" marL="359991" marR="0" rtl="0" algn="just"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pasa si no hay ejemplos cercanos?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for post" id="228" name="Google Shape;22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9093" y="1338432"/>
            <a:ext cx="2794045" cy="64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/>
        </p:nvSpPr>
        <p:spPr>
          <a:xfrm>
            <a:off x="720000" y="648315"/>
            <a:ext cx="46129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¿Cuáles son los elementos centrales que se deben calibrar en k-NN?</a:t>
            </a:r>
            <a:endParaRPr/>
          </a:p>
        </p:txBody>
      </p:sp>
      <p:sp>
        <p:nvSpPr>
          <p:cNvPr id="234" name="Google Shape;234;p37"/>
          <p:cNvSpPr txBox="1"/>
          <p:nvPr/>
        </p:nvSpPr>
        <p:spPr>
          <a:xfrm>
            <a:off x="720000" y="2945904"/>
            <a:ext cx="4074204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Número de vecinos.</a:t>
            </a:r>
            <a:endParaRPr/>
          </a:p>
          <a:p>
            <a:pPr indent="-359991" lvl="0" marL="359991" marR="0" rtl="0" algn="just">
              <a:spcBef>
                <a:spcPts val="4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Métrica de distancia.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9991" lvl="0" marL="359991" marR="0" rtl="0" algn="just">
              <a:spcBef>
                <a:spcPts val="4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Peso para los votos.</a:t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441848"/>
            <a:ext cx="4444648" cy="33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¿Si es tan simple, por qué vemos k-NN en un curso de ML?</a:t>
            </a:r>
            <a:endParaRPr/>
          </a:p>
        </p:txBody>
      </p:sp>
      <p:sp>
        <p:nvSpPr>
          <p:cNvPr id="241" name="Google Shape;241;p38"/>
          <p:cNvSpPr txBox="1"/>
          <p:nvPr/>
        </p:nvSpPr>
        <p:spPr>
          <a:xfrm>
            <a:off x="720000" y="2412232"/>
            <a:ext cx="5404997" cy="327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un mundo con muchos datos, k-NN puede ser una herramienta poderosa.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Consideren el potencial de un sistema que tiene en memoria (casi) todas las posibles soluciones/respuestas/acciones.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este contexto, existen 2 desafíos principales para k-NN: </a:t>
            </a:r>
            <a:endParaRPr sz="16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9991" lvl="1" marL="8171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</a:pPr>
            <a:r>
              <a:rPr b="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Cómo defino un buen vecindario (distancia).</a:t>
            </a:r>
            <a:endParaRPr/>
          </a:p>
          <a:p>
            <a:pPr indent="-359991" lvl="1" marL="817191" marR="0" rtl="0" algn="just"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</a:pPr>
            <a:r>
              <a:rPr b="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Como puedo encontrar rápidamente a los vecinos.</a:t>
            </a:r>
            <a:endParaRPr/>
          </a:p>
        </p:txBody>
      </p:sp>
      <p:pic>
        <p:nvPicPr>
          <p:cNvPr id="242" name="Google Shape;2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441848"/>
            <a:ext cx="4444648" cy="33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48" name="Google Shape;248;p39"/>
          <p:cNvSpPr txBox="1"/>
          <p:nvPr/>
        </p:nvSpPr>
        <p:spPr>
          <a:xfrm>
            <a:off x="3028653" y="1649760"/>
            <a:ext cx="73145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02" y="2657872"/>
            <a:ext cx="6172198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55" name="Google Shape;255;p40"/>
          <p:cNvSpPr txBox="1"/>
          <p:nvPr/>
        </p:nvSpPr>
        <p:spPr>
          <a:xfrm>
            <a:off x="3028653" y="1649760"/>
            <a:ext cx="73145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 esta una buena elección siempre?</a:t>
            </a:r>
            <a:endParaRPr/>
          </a:p>
        </p:txBody>
      </p:sp>
      <p:pic>
        <p:nvPicPr>
          <p:cNvPr id="256" name="Google Shape;2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02" y="2657872"/>
            <a:ext cx="6172198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62" name="Google Shape;262;p41"/>
          <p:cNvSpPr txBox="1"/>
          <p:nvPr/>
        </p:nvSpPr>
        <p:spPr>
          <a:xfrm>
            <a:off x="3028653" y="1649760"/>
            <a:ext cx="73145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 esta una buena elección siempre?</a:t>
            </a:r>
            <a:endParaRPr/>
          </a:p>
        </p:txBody>
      </p:sp>
      <p:pic>
        <p:nvPicPr>
          <p:cNvPr descr="Great-circle distance - Wikipedia" id="263" name="Google Shape;26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243" y="2392241"/>
            <a:ext cx="4767652" cy="476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69" name="Google Shape;269;p42"/>
          <p:cNvSpPr txBox="1"/>
          <p:nvPr/>
        </p:nvSpPr>
        <p:spPr>
          <a:xfrm>
            <a:off x="3028653" y="1649760"/>
            <a:ext cx="73145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 esta una buena elección siempre?</a:t>
            </a:r>
            <a:endParaRPr/>
          </a:p>
        </p:txBody>
      </p:sp>
      <p:pic>
        <p:nvPicPr>
          <p:cNvPr id="270" name="Google Shape;2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669" y="2897428"/>
            <a:ext cx="7150696" cy="372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3028653" y="1649760"/>
            <a:ext cx="73145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 esta una buena elección siempre?</a:t>
            </a:r>
            <a:endParaRPr/>
          </a:p>
        </p:txBody>
      </p:sp>
      <p:pic>
        <p:nvPicPr>
          <p:cNvPr id="277" name="Google Shape;2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670" y="2897428"/>
            <a:ext cx="7150695" cy="372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sp>
        <p:nvSpPr>
          <p:cNvPr id="283" name="Google Shape;283;p44"/>
          <p:cNvSpPr txBox="1"/>
          <p:nvPr/>
        </p:nvSpPr>
        <p:spPr>
          <a:xfrm>
            <a:off x="3028653" y="1649760"/>
            <a:ext cx="73145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primera distancia a la que uno recurre es la distancia euclidiana. </a:t>
            </a:r>
            <a:r>
              <a:rPr lang="es-E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 esta una buena elección siempre?</a:t>
            </a:r>
            <a:endParaRPr/>
          </a:p>
        </p:txBody>
      </p:sp>
      <p:pic>
        <p:nvPicPr>
          <p:cNvPr id="284" name="Google Shape;284;p44"/>
          <p:cNvPicPr preferRelativeResize="0"/>
          <p:nvPr/>
        </p:nvPicPr>
        <p:blipFill rotWithShape="1">
          <a:blip r:embed="rId3">
            <a:alphaModFix/>
          </a:blip>
          <a:srcRect b="0" l="0" r="0" t="66175"/>
          <a:stretch/>
        </p:blipFill>
        <p:spPr>
          <a:xfrm>
            <a:off x="1948533" y="3419453"/>
            <a:ext cx="9303912" cy="2361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Centrémonos en la métrica de distancia</a:t>
            </a:r>
            <a:endParaRPr/>
          </a:p>
        </p:txBody>
      </p:sp>
      <p:pic>
        <p:nvPicPr>
          <p:cNvPr descr="A picture containing food, ball&#10;&#10;Description automatically generated" id="290" name="Google Shape;2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7894" y="3482306"/>
            <a:ext cx="66103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5"/>
          <p:cNvSpPr txBox="1"/>
          <p:nvPr/>
        </p:nvSpPr>
        <p:spPr>
          <a:xfrm>
            <a:off x="2668613" y="2166010"/>
            <a:ext cx="82089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problema que enfrentamos es análogo a hacer grupos/clusters de bolitas</a:t>
            </a:r>
            <a:endParaRPr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agrupamos las bolitas?</a:t>
            </a:r>
            <a:endParaRPr/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8613" y="1649761"/>
            <a:ext cx="3334216" cy="237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311" y="1694715"/>
            <a:ext cx="3104874" cy="217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8159" y="4873526"/>
            <a:ext cx="3366093" cy="217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1889" y="4789891"/>
            <a:ext cx="3569204" cy="2342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/>
        </p:nvSpPr>
        <p:spPr>
          <a:xfrm>
            <a:off x="720000" y="425625"/>
            <a:ext cx="92214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Encontrar métricas de distancias, o análogamente, espacios de características adecuados, es la principal tarea de todas las técnicas de ML</a:t>
            </a:r>
            <a:endParaRPr/>
          </a:p>
        </p:txBody>
      </p:sp>
      <p:sp>
        <p:nvSpPr>
          <p:cNvPr id="306" name="Google Shape;306;p47"/>
          <p:cNvSpPr txBox="1"/>
          <p:nvPr/>
        </p:nvSpPr>
        <p:spPr>
          <a:xfrm>
            <a:off x="719999" y="2327880"/>
            <a:ext cx="605307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Por ejemplo, un problema de clasificación puede verse como uno de aprendizaje de métricas de distancia.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objetivo es encontrar una manera de medir distancias, donde los ejemplos de la misma clase estén cerca y los de las otras lejos.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Análogamente, podríamos buscar una transformación a un nuevo espacio de características, donde los ejemplos de la misma clase estén cerca y los de las otras lejos, en base a la distancia euclidiana.</a:t>
            </a:r>
            <a:endParaRPr/>
          </a:p>
        </p:txBody>
      </p:sp>
      <p:pic>
        <p:nvPicPr>
          <p:cNvPr id="307" name="Google Shape;30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343" y="4354419"/>
            <a:ext cx="2106198" cy="2162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5343" y="1678338"/>
            <a:ext cx="2106198" cy="21624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47"/>
          <p:cNvCxnSpPr/>
          <p:nvPr/>
        </p:nvCxnSpPr>
        <p:spPr>
          <a:xfrm>
            <a:off x="9872876" y="3810000"/>
            <a:ext cx="0" cy="513634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/>
        </p:nvSpPr>
        <p:spPr>
          <a:xfrm>
            <a:off x="724397" y="3089920"/>
            <a:ext cx="4972948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general, las técnicas de ML modernas buscan embeber conocimiento semántico, ya sea en la métrica de distancia aprendida, o en el nuevo espacio de características.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el curso de Deep Learning veremos técnicas que permiten lograr todo esto de manera práctica y general.</a:t>
            </a:r>
            <a:endParaRPr/>
          </a:p>
        </p:txBody>
      </p:sp>
      <p:pic>
        <p:nvPicPr>
          <p:cNvPr id="315" name="Google Shape;31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343" y="4354419"/>
            <a:ext cx="2106198" cy="2162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5343" y="1678338"/>
            <a:ext cx="2106198" cy="21624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48"/>
          <p:cNvCxnSpPr/>
          <p:nvPr/>
        </p:nvCxnSpPr>
        <p:spPr>
          <a:xfrm>
            <a:off x="9872876" y="3810000"/>
            <a:ext cx="0" cy="513634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48"/>
          <p:cNvSpPr txBox="1"/>
          <p:nvPr/>
        </p:nvSpPr>
        <p:spPr>
          <a:xfrm>
            <a:off x="720000" y="425625"/>
            <a:ext cx="92214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Encontrar métricas de distancias, o análogamente, espacios de características adecuados, es la principal tarea de todas las técnicas de ML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 respecto a la búsqueda eficiente de los vecinos más cercanos</a:t>
            </a:r>
            <a:endParaRPr/>
          </a:p>
        </p:txBody>
      </p:sp>
      <p:sp>
        <p:nvSpPr>
          <p:cNvPr id="324" name="Google Shape;324;p49"/>
          <p:cNvSpPr txBox="1"/>
          <p:nvPr/>
        </p:nvSpPr>
        <p:spPr>
          <a:xfrm>
            <a:off x="724397" y="2767623"/>
            <a:ext cx="511256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9991" lvl="0" marL="359991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Este aspecto tiene más que ver con estructuras de datos eficientes, que con ML.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Típicamente, se utilizan árboles para particionar el espacio de características y así acelerar la búsqueda durante la inferencia.</a:t>
            </a:r>
            <a:endParaRPr/>
          </a:p>
          <a:p>
            <a:pPr indent="-359991" lvl="0" marL="359991" marR="0" rtl="0" algn="just"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Afortunadamente, las librerías de ML ya incorporan técnicas de búsqueda eficiente.</a:t>
            </a:r>
            <a:endParaRPr/>
          </a:p>
        </p:txBody>
      </p:sp>
      <p:pic>
        <p:nvPicPr>
          <p:cNvPr id="325" name="Google Shape;32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1221" y="1937792"/>
            <a:ext cx="4344006" cy="449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K-D Tree es la estructura más utilizada</a:t>
            </a:r>
            <a:endParaRPr/>
          </a:p>
        </p:txBody>
      </p:sp>
      <p:pic>
        <p:nvPicPr>
          <p:cNvPr descr="A visual example of a simple K-D tree and its partitions." id="331" name="Google Shape;3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5417" y="2009800"/>
            <a:ext cx="10375304" cy="477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/>
        </p:nvSpPr>
        <p:spPr>
          <a:xfrm>
            <a:off x="720000" y="64831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K-D Tree es la estructura más utilizada</a:t>
            </a:r>
            <a:endParaRPr/>
          </a:p>
        </p:txBody>
      </p:sp>
      <p:pic>
        <p:nvPicPr>
          <p:cNvPr id="337" name="Google Shape;3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946" y="1915499"/>
            <a:ext cx="10154245" cy="477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/>
        </p:nvSpPr>
        <p:spPr>
          <a:xfrm>
            <a:off x="2482838" y="3579168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Veamos ahora un par de casos de estudio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"/>
          <p:cNvSpPr/>
          <p:nvPr/>
        </p:nvSpPr>
        <p:spPr>
          <a:xfrm>
            <a:off x="3064657" y="2873896"/>
            <a:ext cx="7416824" cy="187220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 million tiny images: A large dataset for non-parametric object and scene recognition</a:t>
            </a:r>
            <a:endParaRPr b="1" i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A. Torralba, R. Fergus and W. Freeman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IEEE PAMI, 2006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8753" y="1498512"/>
            <a:ext cx="8228632" cy="499556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4"/>
          <p:cNvSpPr txBox="1"/>
          <p:nvPr/>
        </p:nvSpPr>
        <p:spPr>
          <a:xfrm>
            <a:off x="2482838" y="1001689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podemos hacer con 80 millones de imágenes?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693" y="673974"/>
            <a:ext cx="9854751" cy="627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2314" y="713656"/>
            <a:ext cx="9581510" cy="62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109" y="674400"/>
            <a:ext cx="9485919" cy="62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838" y="1217712"/>
            <a:ext cx="8580462" cy="57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8"/>
          <p:cNvSpPr txBox="1"/>
          <p:nvPr/>
        </p:nvSpPr>
        <p:spPr>
          <a:xfrm>
            <a:off x="720000" y="353616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este caso, vemos que con muchos datos se puede hacer magia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/>
          <p:nvPr/>
        </p:nvSpPr>
        <p:spPr>
          <a:xfrm>
            <a:off x="720000" y="353617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Distintas métricas de distancia entregan resultados distintos</a:t>
            </a:r>
            <a:endParaRPr/>
          </a:p>
        </p:txBody>
      </p:sp>
      <p:pic>
        <p:nvPicPr>
          <p:cNvPr id="380" name="Google Shape;38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809" y="1505744"/>
            <a:ext cx="7620520" cy="5349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/>
          <p:nvPr/>
        </p:nvSpPr>
        <p:spPr>
          <a:xfrm>
            <a:off x="720000" y="386784"/>
            <a:ext cx="100855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construcción del Dataset se basó en los sustantivos del idioma inglés</a:t>
            </a:r>
            <a:endParaRPr/>
          </a:p>
        </p:txBody>
      </p:sp>
      <p:pic>
        <p:nvPicPr>
          <p:cNvPr id="386" name="Google Shape;38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1550" y="1577752"/>
            <a:ext cx="4583038" cy="5527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1"/>
          <p:cNvSpPr txBox="1"/>
          <p:nvPr/>
        </p:nvSpPr>
        <p:spPr>
          <a:xfrm>
            <a:off x="720000" y="386784"/>
            <a:ext cx="98694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Dado los sustantivos, es posible hacer clasificación de nuevos ejemplos</a:t>
            </a:r>
            <a:endParaRPr/>
          </a:p>
        </p:txBody>
      </p:sp>
      <p:pic>
        <p:nvPicPr>
          <p:cNvPr id="392" name="Google Shape;39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0257" y="1910680"/>
            <a:ext cx="690562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/>
        </p:nvSpPr>
        <p:spPr>
          <a:xfrm>
            <a:off x="720000" y="386784"/>
            <a:ext cx="90053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Dado los sustantivos, es posible hacer clasificación de nuevos ejemplos</a:t>
            </a:r>
            <a:endParaRPr/>
          </a:p>
        </p:txBody>
      </p:sp>
      <p:pic>
        <p:nvPicPr>
          <p:cNvPr id="398" name="Google Shape;3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6442" y="1793776"/>
            <a:ext cx="7413253" cy="4522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/>
          <p:nvPr/>
        </p:nvSpPr>
        <p:spPr>
          <a:xfrm>
            <a:off x="3064657" y="2873896"/>
            <a:ext cx="7416824" cy="187220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Scene Completion using Millions of Photographs</a:t>
            </a:r>
            <a:endParaRPr b="1" i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J. Hays and A. Efros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SIGGRAPH, 2006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view of a large body of water&#10;&#10;Description automatically generated" id="408" name="Google Shape;4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226" y="743264"/>
            <a:ext cx="8173687" cy="613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226" y="746467"/>
            <a:ext cx="8173687" cy="6127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226" y="754455"/>
            <a:ext cx="8173687" cy="611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nature&#10;&#10;Description automatically generated" id="423" name="Google Shape;423;p67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2648893" y="2298987"/>
            <a:ext cx="4124176" cy="302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125" y="1910047"/>
            <a:ext cx="4366598" cy="379990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7"/>
          <p:cNvSpPr/>
          <p:nvPr/>
        </p:nvSpPr>
        <p:spPr>
          <a:xfrm>
            <a:off x="6857451" y="1793776"/>
            <a:ext cx="360040" cy="4032448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nature&#10;&#10;Description automatically generated" id="430" name="Google Shape;43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893" y="2298987"/>
            <a:ext cx="8248352" cy="302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226" y="746467"/>
            <a:ext cx="8173687" cy="6127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226" y="749143"/>
            <a:ext cx="8173687" cy="6121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103" y="749143"/>
            <a:ext cx="8165930" cy="6121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87" y="749143"/>
            <a:ext cx="8145962" cy="6121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87" y="752541"/>
            <a:ext cx="8145962" cy="6114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4"/>
          <p:cNvSpPr txBox="1"/>
          <p:nvPr/>
        </p:nvSpPr>
        <p:spPr>
          <a:xfrm>
            <a:off x="720000" y="1793776"/>
            <a:ext cx="6629133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K-NN es una técnica de ML extremadamente simple e intuitiva.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 tan práctica, que notamos que finalmente (casi) todo ML es sobre encontrar vecinos cercanos.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Los dos elementos principales para el éxito de k-NN son i) muchos datos y ii) una métrica de distancia adecuada.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métrica de distancia adecuada va pareada a un espacio de características adecuado (si no, hay que cargarle la mano a una por sobre la otra).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Siempre hay que tener presente la noción de espacio vectorial semántico y distancia semántica (profundizaremos más sobre esto cuando veamos DL.</a:t>
            </a:r>
            <a:endParaRPr/>
          </a:p>
        </p:txBody>
      </p:sp>
      <p:sp>
        <p:nvSpPr>
          <p:cNvPr id="461" name="Google Shape;461;p74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Cuáles son los conceptos centrales de la primera parte de la clase de hoy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441848"/>
            <a:ext cx="4444648" cy="33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6"/>
          <p:cNvSpPr txBox="1"/>
          <p:nvPr/>
        </p:nvSpPr>
        <p:spPr>
          <a:xfrm>
            <a:off x="720000" y="1793776"/>
            <a:ext cx="7921850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“The Hundred-Page Machine Learning Book”, de Andriy Burkov (esto es más para el curso que para esta materia en particular.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“Python Data Science Handbook”, de Jake VanderPlas (gratuito, ideal para practicar Python).</a:t>
            </a:r>
            <a:endParaRPr/>
          </a:p>
        </p:txBody>
      </p:sp>
      <p:sp>
        <p:nvSpPr>
          <p:cNvPr id="468" name="Google Shape;468;p76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Lecturas de profundización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77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476" name="Google Shape;476;p77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Técnicas de vecinos más cercanos</a:t>
            </a:r>
            <a:endParaRPr/>
          </a:p>
        </p:txBody>
      </p:sp>
      <p:sp>
        <p:nvSpPr>
          <p:cNvPr id="477" name="Google Shape;477;p77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