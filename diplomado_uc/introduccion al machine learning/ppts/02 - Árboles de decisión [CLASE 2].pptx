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7620000" cx="135461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hUCiHMSImmoaNYXCBTt+k7AV2M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1015961" y="2367142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1070052" y="4896558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1070052" y="3229683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752566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7638517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6881253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6881253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/>
          <p:nvPr>
            <p:ph type="title"/>
          </p:nvPr>
        </p:nvSpPr>
        <p:spPr>
          <a:xfrm>
            <a:off x="677310" y="303391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" type="body"/>
          </p:nvPr>
        </p:nvSpPr>
        <p:spPr>
          <a:xfrm>
            <a:off x="5296164" y="303392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5450" lvl="1" marL="914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indent="-368300" lvl="5" marL="2743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61" name="Google Shape;61;p50"/>
          <p:cNvSpPr txBox="1"/>
          <p:nvPr>
            <p:ph idx="2" type="body"/>
          </p:nvPr>
        </p:nvSpPr>
        <p:spPr>
          <a:xfrm>
            <a:off x="677310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/>
          <p:nvPr>
            <p:ph type="title"/>
          </p:nvPr>
        </p:nvSpPr>
        <p:spPr>
          <a:xfrm>
            <a:off x="2655138" y="5334002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1"/>
          <p:cNvSpPr txBox="1"/>
          <p:nvPr>
            <p:ph idx="1" type="body"/>
          </p:nvPr>
        </p:nvSpPr>
        <p:spPr>
          <a:xfrm>
            <a:off x="2655138" y="5963711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" type="body"/>
          </p:nvPr>
        </p:nvSpPr>
        <p:spPr>
          <a:xfrm rot="5400000">
            <a:off x="4258469" y="-1803162"/>
            <a:ext cx="5029200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/>
          <p:nvPr>
            <p:ph type="title"/>
          </p:nvPr>
        </p:nvSpPr>
        <p:spPr>
          <a:xfrm rot="5400000">
            <a:off x="8992989" y="2257846"/>
            <a:ext cx="7224889" cy="3386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" type="body"/>
          </p:nvPr>
        </p:nvSpPr>
        <p:spPr>
          <a:xfrm rot="5400000">
            <a:off x="2107036" y="-1015804"/>
            <a:ext cx="7224889" cy="9933835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3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3"/>
          <p:cNvSpPr txBox="1"/>
          <p:nvPr>
            <p:ph idx="1" type="body"/>
          </p:nvPr>
        </p:nvSpPr>
        <p:spPr>
          <a:xfrm>
            <a:off x="677307" y="1778000"/>
            <a:ext cx="12191524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43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3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4"/>
          <p:cNvSpPr txBox="1"/>
          <p:nvPr>
            <p:ph type="ctrTitle"/>
          </p:nvPr>
        </p:nvSpPr>
        <p:spPr>
          <a:xfrm>
            <a:off x="1015961" y="2367141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4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6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44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4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4"/>
          <p:cNvSpPr txBox="1"/>
          <p:nvPr>
            <p:ph type="title"/>
          </p:nvPr>
        </p:nvSpPr>
        <p:spPr>
          <a:xfrm>
            <a:off x="1070052" y="4896557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4"/>
          <p:cNvSpPr txBox="1"/>
          <p:nvPr>
            <p:ph idx="1" type="body"/>
          </p:nvPr>
        </p:nvSpPr>
        <p:spPr>
          <a:xfrm>
            <a:off x="1070052" y="3229682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 sz="2222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11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6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54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4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4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5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5"/>
          <p:cNvSpPr txBox="1"/>
          <p:nvPr>
            <p:ph idx="1" type="body"/>
          </p:nvPr>
        </p:nvSpPr>
        <p:spPr>
          <a:xfrm>
            <a:off x="677308" y="1778000"/>
            <a:ext cx="5982877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6148" lvl="0" marL="45720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Char char="•"/>
              <a:defRPr sz="3111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69697" lvl="2" marL="13716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55"/>
          <p:cNvSpPr txBox="1"/>
          <p:nvPr>
            <p:ph idx="2" type="body"/>
          </p:nvPr>
        </p:nvSpPr>
        <p:spPr>
          <a:xfrm>
            <a:off x="6885955" y="1778000"/>
            <a:ext cx="5982877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6148" lvl="0" marL="45720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Char char="•"/>
              <a:defRPr sz="3111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69697" lvl="2" marL="13716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p55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5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5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6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9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6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1pPr>
            <a:lvl2pPr indent="-228600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b="1" sz="2222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4pPr>
            <a:lvl5pPr indent="-228600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5pPr>
            <a:lvl6pPr indent="-228600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6pPr>
            <a:lvl7pPr indent="-228600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7pPr>
            <a:lvl8pPr indent="-228600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8pPr>
            <a:lvl9pPr indent="-228600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9pPr>
          </a:lstStyle>
          <a:p/>
        </p:txBody>
      </p:sp>
      <p:sp>
        <p:nvSpPr>
          <p:cNvPr id="118" name="Google Shape;118;p56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954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1pPr>
            <a:lvl2pPr indent="-369697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–"/>
              <a:defRPr sz="2222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1503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–"/>
              <a:defRPr sz="1778"/>
            </a:lvl4pPr>
            <a:lvl5pPr indent="-341503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»"/>
              <a:defRPr sz="1778"/>
            </a:lvl5pPr>
            <a:lvl6pPr indent="-341503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6pPr>
            <a:lvl7pPr indent="-341503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7pPr>
            <a:lvl8pPr indent="-341503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8pPr>
            <a:lvl9pPr indent="-341503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9pPr>
          </a:lstStyle>
          <a:p/>
        </p:txBody>
      </p:sp>
      <p:sp>
        <p:nvSpPr>
          <p:cNvPr id="119" name="Google Shape;119;p56"/>
          <p:cNvSpPr txBox="1"/>
          <p:nvPr>
            <p:ph idx="3" type="body"/>
          </p:nvPr>
        </p:nvSpPr>
        <p:spPr>
          <a:xfrm>
            <a:off x="6881252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1pPr>
            <a:lvl2pPr indent="-228600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b="1" sz="2222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4pPr>
            <a:lvl5pPr indent="-228600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5pPr>
            <a:lvl6pPr indent="-228600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6pPr>
            <a:lvl7pPr indent="-228600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7pPr>
            <a:lvl8pPr indent="-228600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8pPr>
            <a:lvl9pPr indent="-228600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9pPr>
          </a:lstStyle>
          <a:p/>
        </p:txBody>
      </p:sp>
      <p:sp>
        <p:nvSpPr>
          <p:cNvPr id="120" name="Google Shape;120;p56"/>
          <p:cNvSpPr txBox="1"/>
          <p:nvPr>
            <p:ph idx="4" type="body"/>
          </p:nvPr>
        </p:nvSpPr>
        <p:spPr>
          <a:xfrm>
            <a:off x="6881252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954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1pPr>
            <a:lvl2pPr indent="-369697" lvl="1" marL="914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–"/>
              <a:defRPr sz="2222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1503" lvl="3" marL="1828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–"/>
              <a:defRPr sz="1778"/>
            </a:lvl4pPr>
            <a:lvl5pPr indent="-341503" lvl="4" marL="22860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»"/>
              <a:defRPr sz="1778"/>
            </a:lvl5pPr>
            <a:lvl6pPr indent="-341503" lvl="5" marL="27432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6pPr>
            <a:lvl7pPr indent="-341503" lvl="6" marL="32004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7pPr>
            <a:lvl8pPr indent="-341503" lvl="7" marL="36576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8pPr>
            <a:lvl9pPr indent="-341503" lvl="8" marL="4114800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778"/>
              <a:buChar char="•"/>
              <a:defRPr sz="1778"/>
            </a:lvl9pPr>
          </a:lstStyle>
          <a:p/>
        </p:txBody>
      </p:sp>
      <p:sp>
        <p:nvSpPr>
          <p:cNvPr id="121" name="Google Shape;121;p56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6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6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7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7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7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7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8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8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8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9"/>
          <p:cNvSpPr txBox="1"/>
          <p:nvPr>
            <p:ph type="title"/>
          </p:nvPr>
        </p:nvSpPr>
        <p:spPr>
          <a:xfrm>
            <a:off x="677308" y="303390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2"/>
              <a:buFont typeface="Calibri"/>
              <a:buNone/>
              <a:defRPr b="1" sz="22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9"/>
          <p:cNvSpPr txBox="1"/>
          <p:nvPr>
            <p:ph idx="1" type="body"/>
          </p:nvPr>
        </p:nvSpPr>
        <p:spPr>
          <a:xfrm>
            <a:off x="5296164" y="303390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406" lvl="0" marL="457200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1pPr>
            <a:lvl2pPr indent="-426148" lvl="1" marL="91440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Char char="–"/>
              <a:defRPr sz="3111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69697" lvl="3" marL="18288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–"/>
              <a:defRPr sz="2222"/>
            </a:lvl4pPr>
            <a:lvl5pPr indent="-369697" lvl="4" marL="22860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»"/>
              <a:defRPr sz="2222"/>
            </a:lvl5pPr>
            <a:lvl6pPr indent="-369697" lvl="5" marL="27432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6pPr>
            <a:lvl7pPr indent="-369697" lvl="6" marL="32004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7pPr>
            <a:lvl8pPr indent="-369696" lvl="7" marL="36576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8pPr>
            <a:lvl9pPr indent="-369696" lvl="8" marL="411480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9pPr>
          </a:lstStyle>
          <a:p/>
        </p:txBody>
      </p:sp>
      <p:sp>
        <p:nvSpPr>
          <p:cNvPr id="136" name="Google Shape;136;p59"/>
          <p:cNvSpPr txBox="1"/>
          <p:nvPr>
            <p:ph idx="2" type="body"/>
          </p:nvPr>
        </p:nvSpPr>
        <p:spPr>
          <a:xfrm>
            <a:off x="677308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11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6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2pPr>
            <a:lvl3pPr indent="-228600" lvl="2" marL="137160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59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9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9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"/>
          <p:cNvSpPr txBox="1"/>
          <p:nvPr>
            <p:ph type="title"/>
          </p:nvPr>
        </p:nvSpPr>
        <p:spPr>
          <a:xfrm>
            <a:off x="2655138" y="5334001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2"/>
              <a:buFont typeface="Calibri"/>
              <a:buNone/>
              <a:defRPr b="1" sz="22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0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60"/>
          <p:cNvSpPr txBox="1"/>
          <p:nvPr>
            <p:ph idx="1" type="body"/>
          </p:nvPr>
        </p:nvSpPr>
        <p:spPr>
          <a:xfrm>
            <a:off x="2655138" y="5963710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11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6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2pPr>
            <a:lvl3pPr indent="-228600" lvl="2" marL="137160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60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0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0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1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1"/>
          <p:cNvSpPr txBox="1"/>
          <p:nvPr>
            <p:ph idx="1" type="body"/>
          </p:nvPr>
        </p:nvSpPr>
        <p:spPr>
          <a:xfrm rot="5400000">
            <a:off x="4258645" y="-1803338"/>
            <a:ext cx="5028848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61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61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1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2"/>
          <p:cNvSpPr txBox="1"/>
          <p:nvPr>
            <p:ph type="title"/>
          </p:nvPr>
        </p:nvSpPr>
        <p:spPr>
          <a:xfrm rot="5400000">
            <a:off x="8094044" y="2032061"/>
            <a:ext cx="6501694" cy="3047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2"/>
          <p:cNvSpPr txBox="1"/>
          <p:nvPr>
            <p:ph idx="1" type="body"/>
          </p:nvPr>
        </p:nvSpPr>
        <p:spPr>
          <a:xfrm rot="5400000">
            <a:off x="1885398" y="-902936"/>
            <a:ext cx="6501694" cy="89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62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62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2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2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9"/>
              <a:buFont typeface="Calibri"/>
              <a:buNone/>
              <a:defRPr b="0" i="0" sz="48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42"/>
          <p:cNvSpPr txBox="1"/>
          <p:nvPr>
            <p:ph idx="1" type="body"/>
          </p:nvPr>
        </p:nvSpPr>
        <p:spPr>
          <a:xfrm>
            <a:off x="677307" y="1778000"/>
            <a:ext cx="12191524" cy="50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406" lvl="0" marL="457200" marR="0" rtl="0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Char char="•"/>
              <a:defRPr b="0" i="0" sz="35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6148" lvl="1" marL="914400" marR="0" rtl="0" algn="l">
              <a:spcBef>
                <a:spcPts val="622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–"/>
              <a:defRPr b="0" i="0" sz="31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9697" lvl="3" marL="18288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–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9697" lvl="4" marL="22860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»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9697" lvl="5" marL="27432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9697" lvl="6" marL="32004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9696" lvl="7" marL="36576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9696" lvl="8" marL="4114800" marR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42"/>
          <p:cNvSpPr txBox="1"/>
          <p:nvPr>
            <p:ph idx="10" type="dt"/>
          </p:nvPr>
        </p:nvSpPr>
        <p:spPr>
          <a:xfrm>
            <a:off x="677308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42"/>
          <p:cNvSpPr txBox="1"/>
          <p:nvPr>
            <p:ph idx="11" type="ftr"/>
          </p:nvPr>
        </p:nvSpPr>
        <p:spPr>
          <a:xfrm>
            <a:off x="4628265" y="7062612"/>
            <a:ext cx="4289610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9" name="Google Shape;89;p42"/>
          <p:cNvSpPr txBox="1"/>
          <p:nvPr>
            <p:ph idx="12" type="sldNum"/>
          </p:nvPr>
        </p:nvSpPr>
        <p:spPr>
          <a:xfrm>
            <a:off x="9708066" y="7062612"/>
            <a:ext cx="3160766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3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Árboles de decisión</a:t>
            </a:r>
            <a:endParaRPr/>
          </a:p>
        </p:txBody>
      </p:sp>
      <p:sp>
        <p:nvSpPr>
          <p:cNvPr id="167" name="Google Shape;167;p1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/>
        </p:nvSpPr>
        <p:spPr>
          <a:xfrm>
            <a:off x="719999" y="1793776"/>
            <a:ext cx="8069294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Comenzamos con la relación íntima entre ML y datos, desde el punto de vista del aprendizaje.</a:t>
            </a:r>
            <a:endParaRPr/>
          </a:p>
          <a:p>
            <a:pPr indent="-342888" lvl="1" marL="457183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Luego, vimos los conceptos fundamentales de ML.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19999" y="209600"/>
            <a:ext cx="8861381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Recapitulemos un poco lo que hemos visto hasta ahora en el curso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/>
        </p:nvSpPr>
        <p:spPr>
          <a:xfrm>
            <a:off x="719999" y="209600"/>
            <a:ext cx="835732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solucionamos el siguiente problema de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3069" y="1433736"/>
            <a:ext cx="6120000" cy="5461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719999" y="209600"/>
            <a:ext cx="806929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solucionamos el siguiente problema de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549" y="2427938"/>
            <a:ext cx="3600000" cy="3212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3954" y="2225824"/>
            <a:ext cx="4680000" cy="345784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/>
          <p:nvPr/>
        </p:nvSpPr>
        <p:spPr>
          <a:xfrm>
            <a:off x="6124997" y="3706902"/>
            <a:ext cx="576064" cy="49569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719999" y="209600"/>
            <a:ext cx="7133589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Árboles de decisión pueden solucionar el caso anterior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720000" y="3017912"/>
            <a:ext cx="475252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Técnica de aprendizaje supervisado.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Pueden realizar clasificación y regresión.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Pueden usarse sobre distintos tipos de 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(binaria, categórica, numérica).</a:t>
            </a:r>
            <a:endParaRPr/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3589" y="2701004"/>
            <a:ext cx="3600000" cy="269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/>
        </p:nvSpPr>
        <p:spPr>
          <a:xfrm>
            <a:off x="719999" y="209600"/>
            <a:ext cx="835732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Árboles de decisión son ampliamente utilizados en la práctica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720000" y="2513856"/>
            <a:ext cx="5260982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nodo interno representa una característica/atributo y cada nodo hoja representa una categoría.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cada nodo interno, se realiza un test en base a los valores de la característica.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Aristas representan el resultado del test.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Para clasificar un registro, se debe pasar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desde la raíz hasta alguna hoja.</a:t>
            </a:r>
            <a:endParaRPr/>
          </a:p>
        </p:txBody>
      </p:sp>
      <p:pic>
        <p:nvPicPr>
          <p:cNvPr id="202" name="Google Shape;2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213" y="2513856"/>
            <a:ext cx="4087530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/>
        </p:nvSpPr>
        <p:spPr>
          <a:xfrm>
            <a:off x="720000" y="281608"/>
            <a:ext cx="6264696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construimos un árbol de decisión?</a:t>
            </a:r>
            <a:endParaRPr/>
          </a:p>
        </p:txBody>
      </p:sp>
      <p:pic>
        <p:nvPicPr>
          <p:cNvPr descr="https://www.edureka.co/blog/wp-content/uploads/2015/01/tree2.png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6605" y="1577752"/>
            <a:ext cx="9433048" cy="5239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/>
        </p:nvSpPr>
        <p:spPr>
          <a:xfrm>
            <a:off x="720000" y="209600"/>
            <a:ext cx="475692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usar un algoritmo recursivo para construir un árbol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720000" y="2009800"/>
            <a:ext cx="5332989" cy="4392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1" marL="5714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AutoNum type="arabicPeriod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¿Pertenecen todos los registros a la misma clase?</a:t>
            </a:r>
            <a:endParaRPr/>
          </a:p>
          <a:p>
            <a:pPr indent="-252000" lvl="2" marL="8280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Retornar marcando el nodo hoja con la clase respectiva.</a:t>
            </a:r>
            <a:endParaRPr/>
          </a:p>
          <a:p>
            <a:pPr indent="-457200" lvl="1" marL="571498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AutoNum type="arabicPeriod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¿Tienen todos los registros el mismo valor para todas las características?</a:t>
            </a:r>
            <a:endParaRPr/>
          </a:p>
          <a:p>
            <a:pPr indent="-252000" lvl="2" marL="8280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Retornar marcando nodo hoja con la clase más común.</a:t>
            </a:r>
            <a:endParaRPr/>
          </a:p>
          <a:p>
            <a:pPr indent="-457200" lvl="1" marL="571498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AutoNum type="arabicPeriod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 lo contrario:</a:t>
            </a:r>
            <a:endParaRPr/>
          </a:p>
          <a:p>
            <a:pPr indent="-252000" lvl="2" marL="8280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AutoNum type="romanLcPeriod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Seleccionar la mejor característica.</a:t>
            </a:r>
            <a:endParaRPr/>
          </a:p>
          <a:p>
            <a:pPr indent="-252000" lvl="2" marL="8280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AutoNum type="romanLcPeriod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Usar esta característica como nodo raíz.</a:t>
            </a:r>
            <a:endParaRPr/>
          </a:p>
          <a:p>
            <a:pPr indent="-252000" lvl="2" marL="8280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AutoNum type="romanLcPeriod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Dividir el set de entrenamiento restante de acuerdo a este atributo y para cada rama resultante continuar la construcción del árbol en forma recursiva.</a:t>
            </a:r>
            <a:endParaRPr/>
          </a:p>
        </p:txBody>
      </p:sp>
      <p:pic>
        <p:nvPicPr>
          <p:cNvPr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3189" y="4587995"/>
            <a:ext cx="4248472" cy="2246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253" y="1381870"/>
            <a:ext cx="2808312" cy="2786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/>
        </p:nvSpPr>
        <p:spPr>
          <a:xfrm>
            <a:off x="719999" y="209600"/>
            <a:ext cx="842933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destilar este paso en dos preguntas más específicas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719999" y="2801888"/>
            <a:ext cx="4756925" cy="1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1" marL="5714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defino cuál es la mejor característica?</a:t>
            </a:r>
            <a:endParaRPr/>
          </a:p>
          <a:p>
            <a:pPr indent="-457200" lvl="1" marL="571498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la mejor característica es numérica, ¿en qué parte de su dominio pongo el umbral de separación?</a:t>
            </a:r>
            <a:endParaRPr/>
          </a:p>
        </p:txBody>
      </p:sp>
      <p:pic>
        <p:nvPicPr>
          <p:cNvPr descr="https://www.edureka.co/blog/wp-content/uploads/2015/01/tree2.png"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133" y="2319968"/>
            <a:ext cx="5364954" cy="298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/>
        </p:nvSpPr>
        <p:spPr>
          <a:xfrm>
            <a:off x="719999" y="209600"/>
            <a:ext cx="7133189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Todo depende de la tarea que busquemos solucionar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720000" y="2369840"/>
            <a:ext cx="5688632" cy="3312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000" lvl="1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objetivo es clasificar, es razonable que la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 característica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sea aquella que mejor separe las clases.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Dos maneras típicas de medir esto son:</a:t>
            </a:r>
            <a:endParaRPr/>
          </a:p>
          <a:p>
            <a:pPr indent="-342900" lvl="2" marL="91530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Gini Index: desigualdad (inequidad) sobre distintas categorías.</a:t>
            </a:r>
            <a:endParaRPr/>
          </a:p>
          <a:p>
            <a:pPr indent="-342900" lvl="2" marL="91530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Information Entropy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 uniformidad de una distribución / bits promedios necesarios para codificar información sobre la ocurrencia de eventos.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4917" y="3017912"/>
            <a:ext cx="7816304" cy="1902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4917" y="3071598"/>
            <a:ext cx="7816304" cy="232257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Entropía permite capturar de manera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cuán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informativa es una distribución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/>
        </p:nvSpPr>
        <p:spPr>
          <a:xfrm>
            <a:off x="719999" y="2225824"/>
            <a:ext cx="5981061" cy="410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000" lvl="1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“Intuitivamente”, la entropía puede verse como un promedio ponderado de la información sobre los eventos particulares:</a:t>
            </a:r>
            <a:endParaRPr/>
          </a:p>
          <a:p>
            <a:pPr indent="-215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5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509" y="3377952"/>
            <a:ext cx="2249377" cy="562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205" y="2225824"/>
            <a:ext cx="4464496" cy="417646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4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Entropía permite capturar de manera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cuán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informativa es una distribución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/>
          <p:nvPr/>
        </p:nvSpPr>
        <p:spPr>
          <a:xfrm>
            <a:off x="719999" y="2225824"/>
            <a:ext cx="5981061" cy="410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000" lvl="1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“Intuitivamente”, la entropía puede verse como un promedio ponderado de la información sobre los eventos particulares:</a:t>
            </a:r>
            <a:endParaRPr/>
          </a:p>
          <a:p>
            <a:pPr indent="-215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Por ejemplo:</a:t>
            </a:r>
            <a:endParaRPr/>
          </a:p>
          <a:p>
            <a:pPr indent="-342900" lvl="2" marL="91530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4 clases (A,B,C,D): 10 registros clase A, 20 clase B, 30 clase C, 40 clase D.</a:t>
            </a:r>
            <a:endParaRPr/>
          </a:p>
          <a:p>
            <a:pPr indent="-342900" lvl="2" marL="915300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Char char="o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Entropía= -[(.1 log .1) + (.2 log .2) + (.3 log .3) + (.4 log .4)] = 1.85 bits.</a:t>
            </a:r>
            <a:endParaRPr/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509" y="3377952"/>
            <a:ext cx="2249377" cy="56280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Entropía permite capturar de manera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cuán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informativa es una distribución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508373" y="7071846"/>
            <a:ext cx="80648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 https://www.khanacademy.org/computing/computer-science/informationtheory/moderninfotheory/v/information-entropy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"/>
          <p:cNvSpPr txBox="1"/>
          <p:nvPr/>
        </p:nvSpPr>
        <p:spPr>
          <a:xfrm>
            <a:off x="720000" y="209600"/>
            <a:ext cx="475692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nos ayuda entonces la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entropía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 elegir la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 característica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20000" y="2369840"/>
            <a:ext cx="5260981" cy="38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000" lvl="1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valor/umbral de una feature genera una partición distinta.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una de estas particiones tendrá su propia entropía.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Ahora sí,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intuitivamente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algo como la entropía promedio de las particiones generadas podría indicar cuán buena o mala es una característica.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Esta idea es formalizada a través de una métrica llamada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 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(Information Gain).</a:t>
            </a:r>
            <a:endParaRPr/>
          </a:p>
        </p:txBody>
      </p:sp>
      <p:pic>
        <p:nvPicPr>
          <p:cNvPr descr="https://www.edureka.co/blog/wp-content/uploads/2015/01/tree2.png" id="267" name="Google Shape;2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133" y="2319968"/>
            <a:ext cx="5364954" cy="298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0621" y="2074362"/>
            <a:ext cx="8244772" cy="375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2750" y="1824994"/>
            <a:ext cx="5883695" cy="421725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0621" y="1649760"/>
            <a:ext cx="7884220" cy="465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6605" y="1649761"/>
            <a:ext cx="8464376" cy="492747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8613" y="1793777"/>
            <a:ext cx="8176344" cy="494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589" y="1456473"/>
            <a:ext cx="7744296" cy="560838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589" y="1721769"/>
            <a:ext cx="8464376" cy="473838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8613" y="2225824"/>
            <a:ext cx="8176344" cy="345304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8693" y="1793777"/>
            <a:ext cx="6520160" cy="408623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Elegimos la característica que entrega la mayor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ganancia de información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(mayor reducción de entropía)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7"/>
          <p:cNvPicPr preferRelativeResize="0"/>
          <p:nvPr/>
        </p:nvPicPr>
        <p:blipFill rotWithShape="1">
          <a:blip r:embed="rId3">
            <a:alphaModFix/>
          </a:blip>
          <a:srcRect b="72932" l="0" r="0" t="0"/>
          <a:stretch/>
        </p:blipFill>
        <p:spPr>
          <a:xfrm>
            <a:off x="1516485" y="1719724"/>
            <a:ext cx="9413961" cy="1159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/>
        </p:nvSpPr>
        <p:spPr>
          <a:xfrm>
            <a:off x="3748734" y="3708944"/>
            <a:ext cx="5863563" cy="44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IG anda mal, se puede usar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Gain Ratio</a:t>
            </a:r>
            <a:endParaRPr/>
          </a:p>
        </p:txBody>
      </p:sp>
      <p:pic>
        <p:nvPicPr>
          <p:cNvPr id="338" name="Google Shape;33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2669" y="4740702"/>
            <a:ext cx="6592168" cy="19703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720000" y="209600"/>
            <a:ext cx="799728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Continuando con la elección de la mejor característica, ¿qué pasa con IG si hay muchos posibles valores para una característica?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"/>
          <p:cNvSpPr txBox="1"/>
          <p:nvPr/>
        </p:nvSpPr>
        <p:spPr>
          <a:xfrm>
            <a:off x="720000" y="209600"/>
            <a:ext cx="720519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Continuando con la elección de la mejor característica, ¿qué hacemos si la tarea a resolver no es una clasificación?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720000" y="2297832"/>
            <a:ext cx="5116965" cy="38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000" lvl="1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 objetivo es una regresión, es razonable que el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mejor atributo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sea el que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disminuya el error en la estimación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457200" lvl="1" marL="5724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Cada nodo hoja retorna la media de los ejemplos que contiene.</a:t>
            </a:r>
            <a:endParaRPr/>
          </a:p>
          <a:p>
            <a:pPr indent="-457200" lvl="1" marL="5724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vez de medir IG, se calcula la disminución de la varianza (VR).</a:t>
            </a:r>
            <a:endParaRPr/>
          </a:p>
          <a:p>
            <a:pPr indent="-457200" lvl="1" marL="5724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Construcción recursiva sigue la misma idea que para clasificación.</a:t>
            </a:r>
            <a:endParaRPr/>
          </a:p>
        </p:txBody>
      </p:sp>
      <p:pic>
        <p:nvPicPr>
          <p:cNvPr id="347" name="Google Shape;3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5077" y="1409596"/>
            <a:ext cx="6368891" cy="4776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/>
          <p:nvPr/>
        </p:nvSpPr>
        <p:spPr>
          <a:xfrm>
            <a:off x="830250" y="8654"/>
            <a:ext cx="8350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Vamos a Colab…</a:t>
            </a:r>
            <a:endParaRPr/>
          </a:p>
        </p:txBody>
      </p:sp>
      <p:pic>
        <p:nvPicPr>
          <p:cNvPr id="353" name="Google Shape;353;p29"/>
          <p:cNvPicPr preferRelativeResize="0"/>
          <p:nvPr/>
        </p:nvPicPr>
        <p:blipFill rotWithShape="1">
          <a:blip r:embed="rId3">
            <a:alphaModFix/>
          </a:blip>
          <a:srcRect b="29153" l="31445" r="31849" t="28989"/>
          <a:stretch/>
        </p:blipFill>
        <p:spPr>
          <a:xfrm>
            <a:off x="3211280" y="1526433"/>
            <a:ext cx="7123579" cy="4567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/>
        </p:nvSpPr>
        <p:spPr>
          <a:xfrm>
            <a:off x="720000" y="209600"/>
            <a:ext cx="547700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Aún nos queda responder una pregunta más sobre la construcción de árboles de decisión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719999" y="2801888"/>
            <a:ext cx="4756925" cy="1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1" marL="5714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defino cuál es el mejor atributo?</a:t>
            </a:r>
            <a:endParaRPr/>
          </a:p>
          <a:p>
            <a:pPr indent="-457200" lvl="1" marL="571498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¿En qué parte del dominio pongo el umbral de separación para los atributos numéricos?</a:t>
            </a:r>
            <a:endParaRPr/>
          </a:p>
        </p:txBody>
      </p:sp>
      <p:pic>
        <p:nvPicPr>
          <p:cNvPr descr="https://www.edureka.co/blog/wp-content/uploads/2015/01/tree2.png" id="361" name="Google Shape;3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9133" y="2319968"/>
            <a:ext cx="5364954" cy="298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/>
          <p:nvPr/>
        </p:nvSpPr>
        <p:spPr>
          <a:xfrm>
            <a:off x="719999" y="209600"/>
            <a:ext cx="5981061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Nuevamente tenemos dos opciones directas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719999" y="2741586"/>
            <a:ext cx="4108854" cy="252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000" lvl="1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Fuerza bruta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Ordenar por dimensión, y evaluar split en cada cambio de categoría.</a:t>
            </a:r>
            <a:endParaRPr/>
          </a:p>
        </p:txBody>
      </p:sp>
      <p:pic>
        <p:nvPicPr>
          <p:cNvPr id="369" name="Google Shape;3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746" y="1657564"/>
            <a:ext cx="6179082" cy="468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/>
        </p:nvSpPr>
        <p:spPr>
          <a:xfrm>
            <a:off x="720000" y="209600"/>
            <a:ext cx="581664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Volvamos un poco a overfitting y complejidad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 txBox="1"/>
          <p:nvPr/>
        </p:nvSpPr>
        <p:spPr>
          <a:xfrm>
            <a:off x="3820741" y="2153816"/>
            <a:ext cx="5544616" cy="1152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tipo de árboles </a:t>
            </a:r>
            <a:r>
              <a:rPr b="0" i="0" lang="es-E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prefiere</a:t>
            </a: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construir el algoritmo que analizamos?</a:t>
            </a:r>
            <a:endParaRPr/>
          </a:p>
          <a:p>
            <a:pPr indent="0" lvl="1" marL="114298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(sesgo inductivo / bias del algoritmo)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3964757" y="3737992"/>
            <a:ext cx="5400600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Árboles pocos profundos (mientras más arriba aumenta la información, mejor)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3892749" y="5106144"/>
            <a:ext cx="5616624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¿Tiene esto algo que ver con el sobreajuste?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"/>
          <p:cNvSpPr txBox="1"/>
          <p:nvPr/>
        </p:nvSpPr>
        <p:spPr>
          <a:xfrm>
            <a:off x="720000" y="209600"/>
            <a:ext cx="6320702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Occam’s Razor</a:t>
            </a:r>
            <a:r>
              <a:rPr baseline="30000"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(o la navaja de Occam, claramente una traducción poco afortunada) be my guide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2657601" y="3089920"/>
            <a:ext cx="4680520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igualdad de condiciones, la </a:t>
            </a:r>
            <a:r>
              <a:rPr b="0" i="1" lang="es-E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explicación</a:t>
            </a:r>
            <a:r>
              <a:rPr b="0" i="1" lang="es-E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más sencilla suele ser la más probable </a:t>
            </a:r>
            <a:r>
              <a:rPr b="0" baseline="30000" i="1" lang="es-E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720000" y="7122368"/>
            <a:ext cx="4752528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ES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Supuestamente fue enunciado mientras se afeitaba.</a:t>
            </a:r>
            <a:endParaRPr/>
          </a:p>
          <a:p>
            <a:pPr indent="0" lvl="1" marL="1142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s-E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i="0" lang="es-ES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Esto es un principio filosófico/metodológico, no una ley de la naturaleza.</a:t>
            </a:r>
            <a:endParaRPr b="0" i="0" sz="1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ols of science: Induction and Occam's razor | Occam's razor ..." id="387" name="Google Shape;3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213" y="1986353"/>
            <a:ext cx="2819324" cy="3431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/>
        </p:nvSpPr>
        <p:spPr>
          <a:xfrm>
            <a:off x="720000" y="209600"/>
            <a:ext cx="49525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es un problema importante para los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árboles de decisión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720000" y="2153816"/>
            <a:ext cx="4680520" cy="38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5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Existen varias técnicas que pueden ayudar reduciendo el overfitting.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Detener construcción del árbol en base a un set de validación.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Detener construcción cuando registros restantes no son estadísticamente significativos.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Construir un árbol completo y luego podar ramas.</a:t>
            </a:r>
            <a:endParaRPr/>
          </a:p>
          <a:p>
            <a:pPr indent="-342000" lvl="1" marL="457200" marR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Penalizar complejidad en métrica de selección del siguiente atributo.</a:t>
            </a:r>
            <a:endParaRPr/>
          </a:p>
        </p:txBody>
      </p:sp>
      <p:pic>
        <p:nvPicPr>
          <p:cNvPr descr="https://i.stack.imgur.com/IpI8U.png" id="395" name="Google Shape;3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181" y="2513856"/>
            <a:ext cx="4536504" cy="302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6"/>
          <p:cNvSpPr txBox="1"/>
          <p:nvPr/>
        </p:nvSpPr>
        <p:spPr>
          <a:xfrm>
            <a:off x="720000" y="1793776"/>
            <a:ext cx="5981061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Árboles son técnicas muy eficientes, pero no muy potentes y con gran riesgo de sobreajuste.</a:t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Simpleza en la explicación es uno de los criterios principales para evaluar soluciones a problemas de clasificación/regresión.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Pueden ser muy útiles como primera solución a un problema, si se tienen features de tipos distintos, donde no es evidente como combinarlas.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719999" y="209600"/>
            <a:ext cx="69171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Cuáles son los conceptos centrales de la clase de hoy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8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409" name="Google Shape;409;p38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Árboles de decisión</a:t>
            </a:r>
            <a:endParaRPr/>
          </a:p>
        </p:txBody>
      </p:sp>
      <p:sp>
        <p:nvSpPr>
          <p:cNvPr id="410" name="Google Shape;410;p38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2004-05-06T09:28:21Z</dcterms:created>
  <dc:creator>Hans-Albert Löbel</dc:creator>
</cp:coreProperties>
</file>