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7620000" cx="135461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jS0cGCEASXoleUujL4bpcJW/ZD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/>
          <p:nvPr>
            <p:ph type="ctrTitle"/>
          </p:nvPr>
        </p:nvSpPr>
        <p:spPr>
          <a:xfrm>
            <a:off x="1015961" y="2367142"/>
            <a:ext cx="11514217" cy="1633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6"/>
          <p:cNvSpPr txBox="1"/>
          <p:nvPr>
            <p:ph idx="1" type="subTitle"/>
          </p:nvPr>
        </p:nvSpPr>
        <p:spPr>
          <a:xfrm>
            <a:off x="2031921" y="4318001"/>
            <a:ext cx="9482297" cy="1947333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20"/>
              </a:spcBef>
              <a:spcAft>
                <a:spcPts val="0"/>
              </a:spcAft>
              <a:buClr>
                <a:srgbClr val="888888"/>
              </a:buClr>
              <a:buSzPts val="3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6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0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0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0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0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1"/>
          <p:cNvSpPr txBox="1"/>
          <p:nvPr>
            <p:ph type="title"/>
          </p:nvPr>
        </p:nvSpPr>
        <p:spPr>
          <a:xfrm>
            <a:off x="1070052" y="4896558"/>
            <a:ext cx="11514217" cy="151341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4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1"/>
          <p:cNvSpPr txBox="1"/>
          <p:nvPr>
            <p:ph idx="1" type="body"/>
          </p:nvPr>
        </p:nvSpPr>
        <p:spPr>
          <a:xfrm>
            <a:off x="1070052" y="3229683"/>
            <a:ext cx="11514217" cy="1666874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1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752566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7638517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52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2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2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3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1" type="body"/>
          </p:nvPr>
        </p:nvSpPr>
        <p:spPr>
          <a:xfrm>
            <a:off x="677307" y="1705681"/>
            <a:ext cx="5985230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43" name="Google Shape;43;p53"/>
          <p:cNvSpPr txBox="1"/>
          <p:nvPr>
            <p:ph idx="2" type="body"/>
          </p:nvPr>
        </p:nvSpPr>
        <p:spPr>
          <a:xfrm>
            <a:off x="677307" y="2416528"/>
            <a:ext cx="5985230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53"/>
          <p:cNvSpPr txBox="1"/>
          <p:nvPr>
            <p:ph idx="3" type="body"/>
          </p:nvPr>
        </p:nvSpPr>
        <p:spPr>
          <a:xfrm>
            <a:off x="6881253" y="1705681"/>
            <a:ext cx="5987581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45" name="Google Shape;45;p53"/>
          <p:cNvSpPr txBox="1"/>
          <p:nvPr>
            <p:ph idx="4" type="body"/>
          </p:nvPr>
        </p:nvSpPr>
        <p:spPr>
          <a:xfrm>
            <a:off x="6881253" y="2416528"/>
            <a:ext cx="5987581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53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3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4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4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4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4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5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5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5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6"/>
          <p:cNvSpPr txBox="1"/>
          <p:nvPr>
            <p:ph type="title"/>
          </p:nvPr>
        </p:nvSpPr>
        <p:spPr>
          <a:xfrm>
            <a:off x="677310" y="303391"/>
            <a:ext cx="4456586" cy="129116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" type="body"/>
          </p:nvPr>
        </p:nvSpPr>
        <p:spPr>
          <a:xfrm>
            <a:off x="5296164" y="303392"/>
            <a:ext cx="7572667" cy="6503459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25450" lvl="1" marL="9144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–"/>
              <a:defRPr sz="31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68300" lvl="3" marL="1828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indent="-368300" lvl="4" marL="22860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indent="-368300" lvl="5" marL="2743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6pPr>
            <a:lvl7pPr indent="-368300" lvl="6" marL="3200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7pPr>
            <a:lvl8pPr indent="-368300" lvl="7" marL="3657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8pPr>
            <a:lvl9pPr indent="-368300" lvl="8" marL="4114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9pPr>
          </a:lstStyle>
          <a:p/>
        </p:txBody>
      </p:sp>
      <p:sp>
        <p:nvSpPr>
          <p:cNvPr id="61" name="Google Shape;61;p56"/>
          <p:cNvSpPr txBox="1"/>
          <p:nvPr>
            <p:ph idx="2" type="body"/>
          </p:nvPr>
        </p:nvSpPr>
        <p:spPr>
          <a:xfrm>
            <a:off x="677310" y="1594556"/>
            <a:ext cx="4456586" cy="52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6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6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7"/>
          <p:cNvSpPr txBox="1"/>
          <p:nvPr>
            <p:ph type="title"/>
          </p:nvPr>
        </p:nvSpPr>
        <p:spPr>
          <a:xfrm>
            <a:off x="2655138" y="5334002"/>
            <a:ext cx="8127683" cy="629709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7"/>
          <p:cNvSpPr/>
          <p:nvPr>
            <p:ph idx="2" type="pic"/>
          </p:nvPr>
        </p:nvSpPr>
        <p:spPr>
          <a:xfrm>
            <a:off x="2655138" y="680861"/>
            <a:ext cx="8127683" cy="45720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7"/>
          <p:cNvSpPr txBox="1"/>
          <p:nvPr>
            <p:ph idx="1" type="body"/>
          </p:nvPr>
        </p:nvSpPr>
        <p:spPr>
          <a:xfrm>
            <a:off x="2655138" y="5963711"/>
            <a:ext cx="8127683" cy="894291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7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7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8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8"/>
          <p:cNvSpPr txBox="1"/>
          <p:nvPr>
            <p:ph idx="1" type="body"/>
          </p:nvPr>
        </p:nvSpPr>
        <p:spPr>
          <a:xfrm rot="5400000">
            <a:off x="4258469" y="-1803162"/>
            <a:ext cx="5029200" cy="12191524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8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8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9"/>
          <p:cNvSpPr txBox="1"/>
          <p:nvPr>
            <p:ph type="title"/>
          </p:nvPr>
        </p:nvSpPr>
        <p:spPr>
          <a:xfrm rot="5400000">
            <a:off x="8992989" y="2257846"/>
            <a:ext cx="7224889" cy="3386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9"/>
          <p:cNvSpPr txBox="1"/>
          <p:nvPr>
            <p:ph idx="1" type="body"/>
          </p:nvPr>
        </p:nvSpPr>
        <p:spPr>
          <a:xfrm rot="5400000">
            <a:off x="2107036" y="-1015804"/>
            <a:ext cx="7224889" cy="9933835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9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9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9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8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8"/>
          <p:cNvSpPr txBox="1"/>
          <p:nvPr>
            <p:ph idx="1" type="body"/>
          </p:nvPr>
        </p:nvSpPr>
        <p:spPr>
          <a:xfrm>
            <a:off x="677307" y="1778000"/>
            <a:ext cx="12191524" cy="5028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48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8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8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9"/>
          <p:cNvSpPr txBox="1"/>
          <p:nvPr>
            <p:ph type="ctrTitle"/>
          </p:nvPr>
        </p:nvSpPr>
        <p:spPr>
          <a:xfrm>
            <a:off x="1015961" y="2367141"/>
            <a:ext cx="11514217" cy="1633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9"/>
          <p:cNvSpPr txBox="1"/>
          <p:nvPr>
            <p:ph idx="1" type="subTitle"/>
          </p:nvPr>
        </p:nvSpPr>
        <p:spPr>
          <a:xfrm>
            <a:off x="2031921" y="4318001"/>
            <a:ext cx="9482297" cy="194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3556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22"/>
              </a:spcBef>
              <a:spcAft>
                <a:spcPts val="0"/>
              </a:spcAft>
              <a:buClr>
                <a:srgbClr val="888888"/>
              </a:buClr>
              <a:buSzPts val="3111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49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9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9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0"/>
          <p:cNvSpPr txBox="1"/>
          <p:nvPr>
            <p:ph type="title"/>
          </p:nvPr>
        </p:nvSpPr>
        <p:spPr>
          <a:xfrm>
            <a:off x="1070052" y="4896557"/>
            <a:ext cx="11514217" cy="1513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44"/>
              <a:buFont typeface="Calibri"/>
              <a:buNone/>
              <a:defRPr b="1" sz="4444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0"/>
          <p:cNvSpPr txBox="1"/>
          <p:nvPr>
            <p:ph idx="1" type="body"/>
          </p:nvPr>
        </p:nvSpPr>
        <p:spPr>
          <a:xfrm>
            <a:off x="1070052" y="3229682"/>
            <a:ext cx="11514217" cy="1666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 sz="2222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56"/>
              </a:spcBef>
              <a:spcAft>
                <a:spcPts val="0"/>
              </a:spcAft>
              <a:buClr>
                <a:srgbClr val="888888"/>
              </a:buClr>
              <a:buSzPts val="1778"/>
              <a:buNone/>
              <a:defRPr sz="1778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60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0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0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1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1"/>
          <p:cNvSpPr txBox="1"/>
          <p:nvPr>
            <p:ph idx="1" type="body"/>
          </p:nvPr>
        </p:nvSpPr>
        <p:spPr>
          <a:xfrm>
            <a:off x="677308" y="1778000"/>
            <a:ext cx="5982877" cy="5028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6148" lvl="0" marL="457200" algn="l">
              <a:spcBef>
                <a:spcPts val="622"/>
              </a:spcBef>
              <a:spcAft>
                <a:spcPts val="0"/>
              </a:spcAft>
              <a:buClr>
                <a:schemeClr val="dk1"/>
              </a:buClr>
              <a:buSzPts val="3111"/>
              <a:buChar char="•"/>
              <a:defRPr sz="3111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69697" lvl="2" marL="13716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1" name="Google Shape;111;p61"/>
          <p:cNvSpPr txBox="1"/>
          <p:nvPr>
            <p:ph idx="2" type="body"/>
          </p:nvPr>
        </p:nvSpPr>
        <p:spPr>
          <a:xfrm>
            <a:off x="6885955" y="1778000"/>
            <a:ext cx="5982877" cy="5028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6148" lvl="0" marL="457200" algn="l">
              <a:spcBef>
                <a:spcPts val="622"/>
              </a:spcBef>
              <a:spcAft>
                <a:spcPts val="0"/>
              </a:spcAft>
              <a:buClr>
                <a:schemeClr val="dk1"/>
              </a:buClr>
              <a:buSzPts val="3111"/>
              <a:buChar char="•"/>
              <a:defRPr sz="3111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69697" lvl="2" marL="13716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2" name="Google Shape;112;p61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1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1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2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9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2"/>
          <p:cNvSpPr txBox="1"/>
          <p:nvPr>
            <p:ph idx="1" type="body"/>
          </p:nvPr>
        </p:nvSpPr>
        <p:spPr>
          <a:xfrm>
            <a:off x="677307" y="1705681"/>
            <a:ext cx="5985230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1pPr>
            <a:lvl2pPr indent="-228600" lvl="1" marL="9144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None/>
              <a:defRPr b="1" sz="2222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4pPr>
            <a:lvl5pPr indent="-228600" lvl="4" marL="22860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5pPr>
            <a:lvl6pPr indent="-228600" lvl="5" marL="27432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6pPr>
            <a:lvl7pPr indent="-228600" lvl="6" marL="32004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7pPr>
            <a:lvl8pPr indent="-228600" lvl="7" marL="36576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8pPr>
            <a:lvl9pPr indent="-228600" lvl="8" marL="4114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9pPr>
          </a:lstStyle>
          <a:p/>
        </p:txBody>
      </p:sp>
      <p:sp>
        <p:nvSpPr>
          <p:cNvPr id="118" name="Google Shape;118;p62"/>
          <p:cNvSpPr txBox="1"/>
          <p:nvPr>
            <p:ph idx="2" type="body"/>
          </p:nvPr>
        </p:nvSpPr>
        <p:spPr>
          <a:xfrm>
            <a:off x="677307" y="2416528"/>
            <a:ext cx="5985230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954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1pPr>
            <a:lvl2pPr indent="-369697" lvl="1" marL="9144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–"/>
              <a:defRPr sz="2222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1503" lvl="3" marL="1828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–"/>
              <a:defRPr sz="1778"/>
            </a:lvl4pPr>
            <a:lvl5pPr indent="-341503" lvl="4" marL="22860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»"/>
              <a:defRPr sz="1778"/>
            </a:lvl5pPr>
            <a:lvl6pPr indent="-341503" lvl="5" marL="27432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6pPr>
            <a:lvl7pPr indent="-341503" lvl="6" marL="32004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7pPr>
            <a:lvl8pPr indent="-341503" lvl="7" marL="36576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8pPr>
            <a:lvl9pPr indent="-341503" lvl="8" marL="4114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9pPr>
          </a:lstStyle>
          <a:p/>
        </p:txBody>
      </p:sp>
      <p:sp>
        <p:nvSpPr>
          <p:cNvPr id="119" name="Google Shape;119;p62"/>
          <p:cNvSpPr txBox="1"/>
          <p:nvPr>
            <p:ph idx="3" type="body"/>
          </p:nvPr>
        </p:nvSpPr>
        <p:spPr>
          <a:xfrm>
            <a:off x="6881252" y="1705681"/>
            <a:ext cx="5987581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1pPr>
            <a:lvl2pPr indent="-228600" lvl="1" marL="9144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None/>
              <a:defRPr b="1" sz="2222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4pPr>
            <a:lvl5pPr indent="-228600" lvl="4" marL="22860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5pPr>
            <a:lvl6pPr indent="-228600" lvl="5" marL="27432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6pPr>
            <a:lvl7pPr indent="-228600" lvl="6" marL="32004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7pPr>
            <a:lvl8pPr indent="-228600" lvl="7" marL="36576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8pPr>
            <a:lvl9pPr indent="-228600" lvl="8" marL="4114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9pPr>
          </a:lstStyle>
          <a:p/>
        </p:txBody>
      </p:sp>
      <p:sp>
        <p:nvSpPr>
          <p:cNvPr id="120" name="Google Shape;120;p62"/>
          <p:cNvSpPr txBox="1"/>
          <p:nvPr>
            <p:ph idx="4" type="body"/>
          </p:nvPr>
        </p:nvSpPr>
        <p:spPr>
          <a:xfrm>
            <a:off x="6881252" y="2416528"/>
            <a:ext cx="5987581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954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1pPr>
            <a:lvl2pPr indent="-369697" lvl="1" marL="9144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–"/>
              <a:defRPr sz="2222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1503" lvl="3" marL="1828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–"/>
              <a:defRPr sz="1778"/>
            </a:lvl4pPr>
            <a:lvl5pPr indent="-341503" lvl="4" marL="22860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»"/>
              <a:defRPr sz="1778"/>
            </a:lvl5pPr>
            <a:lvl6pPr indent="-341503" lvl="5" marL="27432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6pPr>
            <a:lvl7pPr indent="-341503" lvl="6" marL="32004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7pPr>
            <a:lvl8pPr indent="-341503" lvl="7" marL="36576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8pPr>
            <a:lvl9pPr indent="-341503" lvl="8" marL="4114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9pPr>
          </a:lstStyle>
          <a:p/>
        </p:txBody>
      </p:sp>
      <p:sp>
        <p:nvSpPr>
          <p:cNvPr id="121" name="Google Shape;121;p62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2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2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3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3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3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3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4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64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4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5"/>
          <p:cNvSpPr txBox="1"/>
          <p:nvPr>
            <p:ph type="title"/>
          </p:nvPr>
        </p:nvSpPr>
        <p:spPr>
          <a:xfrm>
            <a:off x="677308" y="303390"/>
            <a:ext cx="4456586" cy="12911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2"/>
              <a:buFont typeface="Calibri"/>
              <a:buNone/>
              <a:defRPr b="1" sz="222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5"/>
          <p:cNvSpPr txBox="1"/>
          <p:nvPr>
            <p:ph idx="1" type="body"/>
          </p:nvPr>
        </p:nvSpPr>
        <p:spPr>
          <a:xfrm>
            <a:off x="5296164" y="303390"/>
            <a:ext cx="7572667" cy="65034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4406" lvl="0" marL="457200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1pPr>
            <a:lvl2pPr indent="-426148" lvl="1" marL="914400" algn="l">
              <a:spcBef>
                <a:spcPts val="622"/>
              </a:spcBef>
              <a:spcAft>
                <a:spcPts val="0"/>
              </a:spcAft>
              <a:buClr>
                <a:schemeClr val="dk1"/>
              </a:buClr>
              <a:buSzPts val="3111"/>
              <a:buChar char="–"/>
              <a:defRPr sz="3111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69697" lvl="3" marL="18288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–"/>
              <a:defRPr sz="2222"/>
            </a:lvl4pPr>
            <a:lvl5pPr indent="-369697" lvl="4" marL="22860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»"/>
              <a:defRPr sz="2222"/>
            </a:lvl5pPr>
            <a:lvl6pPr indent="-369697" lvl="5" marL="27432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6pPr>
            <a:lvl7pPr indent="-369697" lvl="6" marL="32004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7pPr>
            <a:lvl8pPr indent="-369696" lvl="7" marL="36576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8pPr>
            <a:lvl9pPr indent="-369696" lvl="8" marL="41148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9pPr>
          </a:lstStyle>
          <a:p/>
        </p:txBody>
      </p:sp>
      <p:sp>
        <p:nvSpPr>
          <p:cNvPr id="136" name="Google Shape;136;p65"/>
          <p:cNvSpPr txBox="1"/>
          <p:nvPr>
            <p:ph idx="2" type="body"/>
          </p:nvPr>
        </p:nvSpPr>
        <p:spPr>
          <a:xfrm>
            <a:off x="677308" y="1594556"/>
            <a:ext cx="4456586" cy="52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11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6"/>
            </a:lvl1pPr>
            <a:lvl2pPr indent="-228600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2pPr>
            <a:lvl3pPr indent="-228600" lvl="2" marL="1371600" algn="l">
              <a:spcBef>
                <a:spcPts val="222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65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5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5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6"/>
          <p:cNvSpPr txBox="1"/>
          <p:nvPr>
            <p:ph type="title"/>
          </p:nvPr>
        </p:nvSpPr>
        <p:spPr>
          <a:xfrm>
            <a:off x="2655138" y="5334001"/>
            <a:ext cx="8127683" cy="6297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2"/>
              <a:buFont typeface="Calibri"/>
              <a:buNone/>
              <a:defRPr b="1" sz="222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6"/>
          <p:cNvSpPr/>
          <p:nvPr>
            <p:ph idx="2" type="pic"/>
          </p:nvPr>
        </p:nvSpPr>
        <p:spPr>
          <a:xfrm>
            <a:off x="2655138" y="680861"/>
            <a:ext cx="8127683" cy="45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66"/>
          <p:cNvSpPr txBox="1"/>
          <p:nvPr>
            <p:ph idx="1" type="body"/>
          </p:nvPr>
        </p:nvSpPr>
        <p:spPr>
          <a:xfrm>
            <a:off x="2655138" y="5963710"/>
            <a:ext cx="8127683" cy="89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11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6"/>
            </a:lvl1pPr>
            <a:lvl2pPr indent="-228600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2pPr>
            <a:lvl3pPr indent="-228600" lvl="2" marL="1371600" algn="l">
              <a:spcBef>
                <a:spcPts val="222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66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6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6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7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67"/>
          <p:cNvSpPr txBox="1"/>
          <p:nvPr>
            <p:ph idx="1" type="body"/>
          </p:nvPr>
        </p:nvSpPr>
        <p:spPr>
          <a:xfrm rot="5400000">
            <a:off x="4258645" y="-1803338"/>
            <a:ext cx="5028848" cy="12191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67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67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67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8"/>
          <p:cNvSpPr txBox="1"/>
          <p:nvPr>
            <p:ph type="title"/>
          </p:nvPr>
        </p:nvSpPr>
        <p:spPr>
          <a:xfrm rot="5400000">
            <a:off x="8094044" y="2032061"/>
            <a:ext cx="6501694" cy="3047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68"/>
          <p:cNvSpPr txBox="1"/>
          <p:nvPr>
            <p:ph idx="1" type="body"/>
          </p:nvPr>
        </p:nvSpPr>
        <p:spPr>
          <a:xfrm rot="5400000">
            <a:off x="1885398" y="-902936"/>
            <a:ext cx="6501694" cy="89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68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68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68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5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5450" lvl="1" marL="914400" marR="0" rtl="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  <a:defRPr b="0" i="0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0050" lvl="2" marL="1371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5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45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45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7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9"/>
              <a:buFont typeface="Calibri"/>
              <a:buNone/>
              <a:defRPr b="0" i="0" sz="48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47"/>
          <p:cNvSpPr txBox="1"/>
          <p:nvPr>
            <p:ph idx="1" type="body"/>
          </p:nvPr>
        </p:nvSpPr>
        <p:spPr>
          <a:xfrm>
            <a:off x="677307" y="1778000"/>
            <a:ext cx="12191524" cy="5028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4406" lvl="0" marL="457200" marR="0" rtl="0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Char char="•"/>
              <a:defRPr b="0" i="0" sz="35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6148" lvl="1" marL="914400" marR="0" rtl="0" algn="l">
              <a:spcBef>
                <a:spcPts val="622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–"/>
              <a:defRPr b="0" i="0" sz="31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9697" lvl="3" marL="18288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–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9697" lvl="4" marL="22860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»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9697" lvl="5" marL="27432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•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9697" lvl="6" marL="32004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•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9696" lvl="7" marL="36576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•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9696" lvl="8" marL="41148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•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47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8" name="Google Shape;88;p47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9" name="Google Shape;89;p47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gif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1715" y="147320"/>
            <a:ext cx="1430282" cy="143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0378" y="570040"/>
            <a:ext cx="6829159" cy="133503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"/>
          <p:cNvSpPr txBox="1"/>
          <p:nvPr/>
        </p:nvSpPr>
        <p:spPr>
          <a:xfrm>
            <a:off x="3063230" y="570040"/>
            <a:ext cx="6943454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b="0" i="0" sz="22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b="0" i="0" sz="22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491595" y="3258928"/>
            <a:ext cx="12562950" cy="150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Machine Learning</a:t>
            </a:r>
            <a:endParaRPr/>
          </a:p>
          <a:p>
            <a:pPr indent="0" lvl="0" marL="0" marR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Ensambles</a:t>
            </a:r>
            <a:endParaRPr/>
          </a:p>
        </p:txBody>
      </p:sp>
      <p:sp>
        <p:nvSpPr>
          <p:cNvPr id="167" name="Google Shape;167;p1"/>
          <p:cNvSpPr txBox="1"/>
          <p:nvPr/>
        </p:nvSpPr>
        <p:spPr>
          <a:xfrm>
            <a:off x="10685760" y="6417222"/>
            <a:ext cx="28485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Nicolás Alvarado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Dpto. Ciencia de la Computación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/>
        </p:nvSpPr>
        <p:spPr>
          <a:xfrm>
            <a:off x="720000" y="209600"/>
            <a:ext cx="495255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79646"/>
              </a:buClr>
              <a:buSzPts val="2400"/>
              <a:buFont typeface="Calibri"/>
              <a:buNone/>
            </a:pPr>
            <a:r>
              <a:rPr b="0" i="0" lang="es-ES" sz="2400" u="none" cap="none" strike="noStrike">
                <a:solidFill>
                  <a:srgbClr val="F79646"/>
                </a:solidFill>
                <a:latin typeface="Calibri"/>
                <a:ea typeface="Calibri"/>
                <a:cs typeface="Calibri"/>
                <a:sym typeface="Calibri"/>
              </a:rPr>
              <a:t>Sobreajuste</a:t>
            </a:r>
            <a:r>
              <a:rPr b="0" i="0" lang="es-E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es un problema importante para los </a:t>
            </a:r>
            <a:r>
              <a:rPr b="0" i="0" lang="es-ES" sz="2400" u="none" cap="none" strike="noStrike">
                <a:solidFill>
                  <a:srgbClr val="F79646"/>
                </a:solidFill>
                <a:latin typeface="Calibri"/>
                <a:ea typeface="Calibri"/>
                <a:cs typeface="Calibri"/>
                <a:sym typeface="Calibri"/>
              </a:rPr>
              <a:t>árboles de decisión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720000" y="2153816"/>
            <a:ext cx="4680520" cy="3816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5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None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Existen varias técnicas que pueden ayudar reduciendo el sobreajuste.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Detener construcción del árbol en base a un set de validación.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Detener construcción cuando registros restantes no son estadísticamente significativos.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Construir un árbol completo y luego podar ramas.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Penalizar complejidad en métrica de selección del siguiente atributo.</a:t>
            </a:r>
            <a:endParaRPr/>
          </a:p>
        </p:txBody>
      </p:sp>
      <p:pic>
        <p:nvPicPr>
          <p:cNvPr descr="https://i.stack.imgur.com/IpI8U.png" id="175" name="Google Shape;1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181" y="2513856"/>
            <a:ext cx="4536504" cy="3024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"/>
          <p:cNvSpPr txBox="1"/>
          <p:nvPr/>
        </p:nvSpPr>
        <p:spPr>
          <a:xfrm>
            <a:off x="720000" y="209600"/>
            <a:ext cx="4664518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Árboles de decisión son ampliamente utilizados en la práctica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720000" y="3089920"/>
            <a:ext cx="4752528" cy="1656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Gran ventaja radica en la simplicidad y facilidad de interpretación.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Pueden sufrir de serios problemas de sobreajuste.</a:t>
            </a:r>
            <a:endParaRPr/>
          </a:p>
        </p:txBody>
      </p:sp>
      <p:pic>
        <p:nvPicPr>
          <p:cNvPr id="182" name="Google Shape;1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3589" y="2556988"/>
            <a:ext cx="3600000" cy="2693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719999" y="209600"/>
            <a:ext cx="8645357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¿Podemos hacer algo más para evitar el sobreajuste en los árboles?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719999" y="2513856"/>
            <a:ext cx="5260981" cy="3528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¿De dónde proviene este problema?</a:t>
            </a:r>
            <a:endParaRPr/>
          </a:p>
          <a:p>
            <a:pPr indent="-342900" lvl="1" marL="457198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Muestra es progresivamente reducida al bajar en el árbol.</a:t>
            </a:r>
            <a:endParaRPr/>
          </a:p>
          <a:p>
            <a:pPr indent="-342900" lvl="1" marL="457198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 esto, aumenta la posibilidad de elegir alguna característica buena de acuerdo a la ganancia de información, pero “inútil” en cuanto a generalización.</a:t>
            </a:r>
            <a:endParaRPr/>
          </a:p>
        </p:txBody>
      </p:sp>
      <p:pic>
        <p:nvPicPr>
          <p:cNvPr descr="https://i.stack.imgur.com/IpI8U.png" id="189" name="Google Shape;1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181" y="2513856"/>
            <a:ext cx="4536504" cy="3024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720000" y="2513856"/>
            <a:ext cx="4752528" cy="3528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Consideremos un escenario donde queremos estimar la probabilidad de ocurrencia de un evento.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ausencia de un experto, ¿cuál es la mejor manera de realizar la estimación?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Al realizar una encuesta, la muestra y la metodología juegan un rol fundamental.</a:t>
            </a:r>
            <a:endParaRPr/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719999" y="209600"/>
            <a:ext cx="842933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Busquemos un enfoque distinto para enfrentar el sobreajuste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w to Make Your Post-Sales Survey a Success | Questback" id="196" name="Google Shape;1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3149" y="2513856"/>
            <a:ext cx="5691952" cy="3037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 txBox="1"/>
          <p:nvPr/>
        </p:nvSpPr>
        <p:spPr>
          <a:xfrm>
            <a:off x="719999" y="2513856"/>
            <a:ext cx="4972949" cy="396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Desde una perspectiva de ML, si queremos estar seguros de algo, le podríamos preguntar a más de un modelo.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Así, si le preguntamos a suficientes, es probable que la moda o el promedio de las predicciones sean cercanas a la realidad.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¿Basta entonces con entrenar muchos modelos para eliminar el sobreajuste?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 igual que con las encuestas, la muestra y la metodología son fundamentales.</a:t>
            </a:r>
            <a:endParaRPr/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719999" y="209600"/>
            <a:ext cx="842933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Busquemos un enfoque distinto para enfrentar el sobreajuste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uilding an Ensemble Learning Model Using Scikit-learn | by Eijaz Allibhai  | Towards Data Science" id="203" name="Google Shape;2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9213" y="2657872"/>
            <a:ext cx="4352326" cy="295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semble Methods in Machine Learning: Bagging Versus Boosting | Pluralsight" id="208" name="Google Shape;2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6351" y="1088207"/>
            <a:ext cx="7353436" cy="5443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6565" y="2729880"/>
            <a:ext cx="8784976" cy="321816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 txBox="1"/>
          <p:nvPr/>
        </p:nvSpPr>
        <p:spPr>
          <a:xfrm>
            <a:off x="719999" y="209600"/>
            <a:ext cx="9725478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¿Qué condición deben cumplir los modelos para que esta idea funcione?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 txBox="1"/>
          <p:nvPr/>
        </p:nvSpPr>
        <p:spPr>
          <a:xfrm>
            <a:off x="720000" y="209600"/>
            <a:ext cx="552861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Ensambles de modelos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 baja correlación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720000" y="1217712"/>
            <a:ext cx="5693029" cy="244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 el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patrón de error 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(acierto) es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distinto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para todos, es altamente probable que, en promedio, la respuesta del ensamble sea correcta (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errores se cancelan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Para que esto ocurra, todos los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del ensamble deben ser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débiles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es decir, ser un poco mejores que dejar la decisión al azar.</a:t>
            </a:r>
            <a:endParaRPr/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0"/>
          <p:cNvPicPr preferRelativeResize="0"/>
          <p:nvPr/>
        </p:nvPicPr>
        <p:blipFill rotWithShape="1">
          <a:blip r:embed="rId3">
            <a:alphaModFix/>
          </a:blip>
          <a:srcRect b="0" l="0" r="34498" t="0"/>
          <a:stretch/>
        </p:blipFill>
        <p:spPr>
          <a:xfrm>
            <a:off x="4396805" y="4098032"/>
            <a:ext cx="4680988" cy="200427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 txBox="1"/>
          <p:nvPr/>
        </p:nvSpPr>
        <p:spPr>
          <a:xfrm>
            <a:off x="4324797" y="6366284"/>
            <a:ext cx="4896544" cy="936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¿Cómo logramos esto con los árboles?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 txBox="1"/>
          <p:nvPr/>
        </p:nvSpPr>
        <p:spPr>
          <a:xfrm>
            <a:off x="719999" y="209600"/>
            <a:ext cx="5549013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solución parte por las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muestras aleatorias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720000" y="1577752"/>
            <a:ext cx="7565238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 cada modelo ve solo una parte de los datos (elegida aleatoriamente), es probable que la correlación entre ellos disminuya.</a:t>
            </a:r>
            <a:endParaRPr/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4036765" y="6618312"/>
            <a:ext cx="5544616" cy="504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¿Qué pasa si hay una variable muy buena?</a:t>
            </a:r>
            <a:endParaRPr/>
          </a:p>
        </p:txBody>
      </p:sp>
      <p:pic>
        <p:nvPicPr>
          <p:cNvPr descr="Decision Tree vs. Random Forest - Which Algorithm Should you Use?" id="230" name="Google Shape;2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0781" y="2706768"/>
            <a:ext cx="5360026" cy="3631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 txBox="1"/>
          <p:nvPr/>
        </p:nvSpPr>
        <p:spPr>
          <a:xfrm>
            <a:off x="720000" y="209600"/>
            <a:ext cx="5672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solución está nuevamente en las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muestras aleatorias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pero ahora de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atributos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719999" y="2297832"/>
            <a:ext cx="5981061" cy="309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Cada vez que se hace un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se elige un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subconjunto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aleatorio de los atributos.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Luego, para cada uno de ellos, se calcula la ganancia de información.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Otra ventaja de esto es que se limita la profundidad del árbol, reduciendo la complejidad de este. 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Por lo general, se utiliza una muestra proporcional a la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raíz del número de atributos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237" name="Google Shape;237;p12"/>
          <p:cNvPicPr preferRelativeResize="0"/>
          <p:nvPr/>
        </p:nvPicPr>
        <p:blipFill rotWithShape="1">
          <a:blip r:embed="rId3">
            <a:alphaModFix/>
          </a:blip>
          <a:srcRect b="0" l="0" r="43480" t="0"/>
          <a:stretch/>
        </p:blipFill>
        <p:spPr>
          <a:xfrm>
            <a:off x="8715102" y="1956534"/>
            <a:ext cx="3616306" cy="15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6546" y="4070653"/>
            <a:ext cx="2953418" cy="1539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3053" y="1721768"/>
            <a:ext cx="6960031" cy="518457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3"/>
          <p:cNvSpPr txBox="1"/>
          <p:nvPr/>
        </p:nvSpPr>
        <p:spPr>
          <a:xfrm>
            <a:off x="720000" y="209600"/>
            <a:ext cx="725680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introducción de todas estas estrategias “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aleatorizantes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”, transforma a los árboles en </a:t>
            </a: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random forests</a:t>
            </a:r>
            <a:endParaRPr i="1"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/>
          <p:nvPr/>
        </p:nvSpPr>
        <p:spPr>
          <a:xfrm>
            <a:off x="720000" y="209600"/>
            <a:ext cx="725680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introducción de todas estas estrategias “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aleatorizantes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”, transforma a los árboles en </a:t>
            </a: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random forests</a:t>
            </a:r>
            <a:endParaRPr i="1"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0621" y="2441848"/>
            <a:ext cx="8176344" cy="299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2670" y="1296639"/>
            <a:ext cx="7265713" cy="5026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0661" y="409533"/>
            <a:ext cx="7072890" cy="6656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7765" y="788876"/>
            <a:ext cx="6594682" cy="604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 txBox="1"/>
          <p:nvPr/>
        </p:nvSpPr>
        <p:spPr>
          <a:xfrm>
            <a:off x="719999" y="209600"/>
            <a:ext cx="763724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Algunas consideraciones relacionadas con la evaluación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 txBox="1"/>
          <p:nvPr/>
        </p:nvSpPr>
        <p:spPr>
          <a:xfrm>
            <a:off x="713412" y="2996916"/>
            <a:ext cx="4979537" cy="275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cuantificar el poder de generalización de un random forest, utilizando únicamente el conjunto de entrenamiento?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identificar ahora las variables más relevantes?</a:t>
            </a:r>
            <a:endParaRPr/>
          </a:p>
        </p:txBody>
      </p:sp>
      <p:pic>
        <p:nvPicPr>
          <p:cNvPr id="272" name="Google Shape;272;p18"/>
          <p:cNvPicPr preferRelativeResize="0"/>
          <p:nvPr/>
        </p:nvPicPr>
        <p:blipFill rotWithShape="1">
          <a:blip r:embed="rId3">
            <a:alphaModFix/>
          </a:blip>
          <a:srcRect b="0" l="113" r="112" t="0"/>
          <a:stretch/>
        </p:blipFill>
        <p:spPr>
          <a:xfrm>
            <a:off x="7781181" y="2801888"/>
            <a:ext cx="4752528" cy="2190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 txBox="1"/>
          <p:nvPr/>
        </p:nvSpPr>
        <p:spPr>
          <a:xfrm>
            <a:off x="719999" y="209600"/>
            <a:ext cx="763724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Algunas consideraciones relacionadas con la evaluación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713412" y="2996916"/>
            <a:ext cx="4979537" cy="275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Es posible cuantificar la generalización directamente a partir del set de entrenamiento, usando ejemplos no vistos por lo árboles (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out-of-bag error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Para medir la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importancia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de una variable, basta con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permutar su valor entre los ejemplos 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(¿por qué?).</a:t>
            </a:r>
            <a:endParaRPr/>
          </a:p>
        </p:txBody>
      </p:sp>
      <p:pic>
        <p:nvPicPr>
          <p:cNvPr id="279" name="Google Shape;279;p19"/>
          <p:cNvPicPr preferRelativeResize="0"/>
          <p:nvPr/>
        </p:nvPicPr>
        <p:blipFill rotWithShape="1">
          <a:blip r:embed="rId3">
            <a:alphaModFix/>
          </a:blip>
          <a:srcRect b="0" l="113" r="112" t="0"/>
          <a:stretch/>
        </p:blipFill>
        <p:spPr>
          <a:xfrm>
            <a:off x="7781181" y="2801888"/>
            <a:ext cx="4752528" cy="2190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/>
        </p:nvSpPr>
        <p:spPr>
          <a:xfrm>
            <a:off x="719999" y="209600"/>
            <a:ext cx="7349213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Random Forests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son ampliamente utilizados en la práctica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720000" y="2801888"/>
            <a:ext cx="4752528" cy="252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 igual que los árboles de decisión, son modelos fácilmente interpretables.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Rendimiento es altamente competitivo en problemas con datos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tabulados</a:t>
            </a:r>
            <a:r>
              <a:rPr b="0" i="1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Gracias a aleatorización en su construcción, son altamente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resistentes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al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sobreajuste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286" name="Google Shape;286;p20"/>
          <p:cNvPicPr preferRelativeResize="0"/>
          <p:nvPr/>
        </p:nvPicPr>
        <p:blipFill rotWithShape="1">
          <a:blip r:embed="rId3">
            <a:alphaModFix/>
          </a:blip>
          <a:srcRect b="0" l="113" r="112" t="0"/>
          <a:stretch/>
        </p:blipFill>
        <p:spPr>
          <a:xfrm>
            <a:off x="7781181" y="2801888"/>
            <a:ext cx="4752528" cy="2190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 txBox="1"/>
          <p:nvPr/>
        </p:nvSpPr>
        <p:spPr>
          <a:xfrm>
            <a:off x="830250" y="8654"/>
            <a:ext cx="8350676" cy="12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425" lIns="112875" spcFirstLastPara="1" rIns="112875" wrap="square" tIns="56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Vamos a Colab…</a:t>
            </a:r>
            <a:endParaRPr/>
          </a:p>
        </p:txBody>
      </p:sp>
      <p:pic>
        <p:nvPicPr>
          <p:cNvPr id="292" name="Google Shape;292;p21"/>
          <p:cNvPicPr preferRelativeResize="0"/>
          <p:nvPr/>
        </p:nvPicPr>
        <p:blipFill rotWithShape="1">
          <a:blip r:embed="rId3">
            <a:alphaModFix/>
          </a:blip>
          <a:srcRect b="29153" l="31446" r="31848" t="28990"/>
          <a:stretch/>
        </p:blipFill>
        <p:spPr>
          <a:xfrm>
            <a:off x="3211280" y="1526433"/>
            <a:ext cx="7123578" cy="4567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 txBox="1"/>
          <p:nvPr/>
        </p:nvSpPr>
        <p:spPr>
          <a:xfrm>
            <a:off x="720000" y="209600"/>
            <a:ext cx="605307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 modo general, métodos de ensamble buscan combinar modelos para generar uno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mejor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2 Combining models to maximize results: Ensemble learning - Grokking  Machine Learning" id="298" name="Google Shape;2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0661" y="2680734"/>
            <a:ext cx="8389515" cy="3289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 txBox="1"/>
          <p:nvPr/>
        </p:nvSpPr>
        <p:spPr>
          <a:xfrm>
            <a:off x="720000" y="209600"/>
            <a:ext cx="461291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Random Forests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es solo uno de muchos tipos posibles de ensamble</a:t>
            </a:r>
            <a:endParaRPr i="1"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 txBox="1"/>
          <p:nvPr/>
        </p:nvSpPr>
        <p:spPr>
          <a:xfrm>
            <a:off x="719999" y="2369840"/>
            <a:ext cx="6413110" cy="43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Random Forests utilizan una estrategia llamada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bagging</a:t>
            </a:r>
            <a:r>
              <a:rPr b="0" i="1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que busca ensamblar múltiples modelos, donde la baja correlación entre ellos permite mejorar el rendimiento.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 el ensamble de estos modelos se hace utilizando otro clasificador, entonces el esquema se conoce como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stacking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Una manera distinta de hacer ensambles es intentar que exista una correlación explícita entre los modelos, pero enfocada en la reducción del error.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Este esquema de ensamble se conoce como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305" name="Google Shape;3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4403" y="1649761"/>
            <a:ext cx="2109115" cy="4759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670" y="1976181"/>
            <a:ext cx="5172797" cy="3667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670" y="1976181"/>
            <a:ext cx="5172797" cy="366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5"/>
          <p:cNvSpPr txBox="1"/>
          <p:nvPr/>
        </p:nvSpPr>
        <p:spPr>
          <a:xfrm>
            <a:off x="5224896" y="6258272"/>
            <a:ext cx="3096344" cy="75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425" lIns="112875" spcFirstLastPara="1" rIns="112875" wrap="square" tIns="5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Construyo un modelo inicial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670" y="1976181"/>
            <a:ext cx="5172797" cy="366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/>
          <p:nvPr/>
        </p:nvSpPr>
        <p:spPr>
          <a:xfrm>
            <a:off x="4378801" y="6258272"/>
            <a:ext cx="4788533" cy="75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425" lIns="112875" spcFirstLastPara="1" rIns="112875" wrap="square" tIns="5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Doy más peso a ejemplos mal clasificados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670" y="1976181"/>
            <a:ext cx="5172797" cy="366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7"/>
          <p:cNvSpPr txBox="1"/>
          <p:nvPr/>
        </p:nvSpPr>
        <p:spPr>
          <a:xfrm>
            <a:off x="4891858" y="6258272"/>
            <a:ext cx="3762420" cy="75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425" lIns="112875" spcFirstLastPara="1" rIns="112875" wrap="square" tIns="5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Construyo un nuevo clasificador, que se combinará con el anterior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670" y="1976181"/>
            <a:ext cx="5172797" cy="366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 txBox="1"/>
          <p:nvPr/>
        </p:nvSpPr>
        <p:spPr>
          <a:xfrm>
            <a:off x="4356298" y="6258272"/>
            <a:ext cx="4833539" cy="75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425" lIns="112875" spcFirstLastPara="1" rIns="112875" wrap="square" tIns="5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Doy más peso a los ejemplos mal clasificados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670" y="1976181"/>
            <a:ext cx="5172797" cy="366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9"/>
          <p:cNvSpPr txBox="1"/>
          <p:nvPr/>
        </p:nvSpPr>
        <p:spPr>
          <a:xfrm>
            <a:off x="4824350" y="6258272"/>
            <a:ext cx="3897435" cy="75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425" lIns="112875" spcFirstLastPara="1" rIns="112875" wrap="square" tIns="5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Construyo un nuevo clasificador, que se combinará con los anteriores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670" y="1976181"/>
            <a:ext cx="5172797" cy="366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0"/>
          <p:cNvSpPr txBox="1"/>
          <p:nvPr/>
        </p:nvSpPr>
        <p:spPr>
          <a:xfrm>
            <a:off x="3960254" y="6186264"/>
            <a:ext cx="5625627" cy="75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425" lIns="112875" spcFirstLastPara="1" rIns="112875" wrap="square" tIns="5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Doy más peso a los ejemplos mal clasificados……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"/>
          <p:cNvSpPr txBox="1"/>
          <p:nvPr/>
        </p:nvSpPr>
        <p:spPr>
          <a:xfrm>
            <a:off x="719999" y="209600"/>
            <a:ext cx="691716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explora la construcción iterativa de ensambles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1"/>
          <p:cNvSpPr txBox="1"/>
          <p:nvPr/>
        </p:nvSpPr>
        <p:spPr>
          <a:xfrm>
            <a:off x="719999" y="2225824"/>
            <a:ext cx="5765038" cy="4104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boosting, se agregan progresivamente modelos débiles, donde cada uno busca mejorar el rendimiento actual del ensamble.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Para hacer esto, cada nuevo modelo ve una “versión modificada” de la señal de supervisión.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Cómo se modifica la supervisión es la base de la diferencia entre los distintos enfoques de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existentes.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mecanismo de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más exitoso en la actualidad es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b="0" i="1" sz="2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4402" y="1649761"/>
            <a:ext cx="2109114" cy="4759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"/>
          <p:cNvSpPr txBox="1"/>
          <p:nvPr/>
        </p:nvSpPr>
        <p:spPr>
          <a:xfrm>
            <a:off x="719999" y="209600"/>
            <a:ext cx="691716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explora la construcción iterativa de ensambles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 txBox="1"/>
          <p:nvPr/>
        </p:nvSpPr>
        <p:spPr>
          <a:xfrm>
            <a:off x="719999" y="2225824"/>
            <a:ext cx="5765038" cy="4104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Conceptualmente, lo métodos de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gradient boosting 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realizan descenso de gradiente sobre el espacio de funciones.</a:t>
            </a:r>
            <a:endParaRPr/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1" sz="2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32"/>
          <p:cNvPicPr preferRelativeResize="0"/>
          <p:nvPr/>
        </p:nvPicPr>
        <p:blipFill rotWithShape="1">
          <a:blip r:embed="rId3">
            <a:alphaModFix/>
          </a:blip>
          <a:srcRect b="0" l="0" r="0" t="49926"/>
          <a:stretch/>
        </p:blipFill>
        <p:spPr>
          <a:xfrm>
            <a:off x="8789293" y="2153816"/>
            <a:ext cx="3477266" cy="3929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dn-images-1.medium.com/max/2000/0*yzBz_qja1v8_dIse.png"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0806" y="1633427"/>
            <a:ext cx="7604550" cy="4120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dn-images-1.medium.com/max/2000/0*D7zG46WrdKx54pbU.gif" id="370" name="Google Shape;37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4763" y="2153880"/>
            <a:ext cx="8386510" cy="3285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5"/>
          <p:cNvSpPr txBox="1"/>
          <p:nvPr/>
        </p:nvSpPr>
        <p:spPr>
          <a:xfrm>
            <a:off x="719999" y="209600"/>
            <a:ext cx="691716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explora la construcción iterativa de ensambles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5"/>
          <p:cNvSpPr txBox="1"/>
          <p:nvPr/>
        </p:nvSpPr>
        <p:spPr>
          <a:xfrm>
            <a:off x="719999" y="2225824"/>
            <a:ext cx="5765038" cy="4104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Conceptualmente, lo métodos de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gradient boosting 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realizan descenso de gradiente sobre el espacio de funciones.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Cada nuevo modelo que se agrega busca aprender la diferencia entre las etiquetas la predicción actual del ensamble, es decir, el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error residual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de este.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 agregar aditivamente este modelo al ensamble (ascender o descender en la dirección del gradiente), se disminuye el error de este.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Este proceso se repite hasta alcanzar una condición de fin.</a:t>
            </a:r>
            <a:endParaRPr/>
          </a:p>
          <a:p>
            <a:pPr indent="-215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1" sz="2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35"/>
          <p:cNvPicPr preferRelativeResize="0"/>
          <p:nvPr/>
        </p:nvPicPr>
        <p:blipFill rotWithShape="1">
          <a:blip r:embed="rId3">
            <a:alphaModFix/>
          </a:blip>
          <a:srcRect b="0" l="0" r="0" t="49926"/>
          <a:stretch/>
        </p:blipFill>
        <p:spPr>
          <a:xfrm>
            <a:off x="8789293" y="2153816"/>
            <a:ext cx="3477266" cy="3929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/>
        </p:nvSpPr>
        <p:spPr>
          <a:xfrm>
            <a:off x="720000" y="209600"/>
            <a:ext cx="516857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funciona este </a:t>
            </a: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6"/>
          <p:cNvSpPr txBox="1"/>
          <p:nvPr/>
        </p:nvSpPr>
        <p:spPr>
          <a:xfrm>
            <a:off x="720000" y="1577752"/>
            <a:ext cx="6428714" cy="525658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7423" l="-663" r="-2369" t="-185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pic>
        <p:nvPicPr>
          <p:cNvPr descr="Ensemble Models: Bagging &amp; Boosting | by Rosaria Silipo | Analytics Vidhya  | Medium" id="384" name="Google Shape;384;p36"/>
          <p:cNvPicPr preferRelativeResize="0"/>
          <p:nvPr/>
        </p:nvPicPr>
        <p:blipFill rotWithShape="1">
          <a:blip r:embed="rId4">
            <a:alphaModFix/>
          </a:blip>
          <a:srcRect b="0" l="38837" r="43088" t="0"/>
          <a:stretch/>
        </p:blipFill>
        <p:spPr>
          <a:xfrm>
            <a:off x="9797405" y="1577752"/>
            <a:ext cx="2448273" cy="470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ock-distributed Gradient Boosted Trees" id="389" name="Google Shape;38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0219" y="1076325"/>
            <a:ext cx="7505700" cy="54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L - Gradient Boosting - GeeksforGeeks" id="394" name="Google Shape;3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3854" y="1139553"/>
            <a:ext cx="9778429" cy="5340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5971" y="102902"/>
            <a:ext cx="7414195" cy="741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 txBox="1"/>
          <p:nvPr/>
        </p:nvSpPr>
        <p:spPr>
          <a:xfrm>
            <a:off x="719999" y="2649661"/>
            <a:ext cx="5621021" cy="32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la práctica, el proceso anterior funciona muy bien (con ciertos arreglos).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Variedades modernas, como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XGBoost 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LightGBM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son ideales para procesar grandes volúmenes de datos tabulados, con rendimiento muchas veces superior a las redes neuronales profundas tradicionales.</a:t>
            </a:r>
            <a:endParaRPr/>
          </a:p>
          <a:p>
            <a:pPr indent="0" lvl="1" marL="114298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0" i="1" sz="2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0"/>
          <p:cNvSpPr txBox="1"/>
          <p:nvPr/>
        </p:nvSpPr>
        <p:spPr>
          <a:xfrm>
            <a:off x="720000" y="209600"/>
            <a:ext cx="516857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funciona este </a:t>
            </a: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ck-distributed Gradient Boosted Trees" id="406" name="Google Shape;4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3650" y="2210197"/>
            <a:ext cx="4392489" cy="3199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1"/>
          <p:cNvSpPr txBox="1"/>
          <p:nvPr/>
        </p:nvSpPr>
        <p:spPr>
          <a:xfrm>
            <a:off x="830250" y="8654"/>
            <a:ext cx="8350676" cy="12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425" lIns="112875" spcFirstLastPara="1" rIns="112875" wrap="square" tIns="56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Vamos a Colab…</a:t>
            </a:r>
            <a:endParaRPr/>
          </a:p>
        </p:txBody>
      </p:sp>
      <p:pic>
        <p:nvPicPr>
          <p:cNvPr id="412" name="Google Shape;412;p41"/>
          <p:cNvPicPr preferRelativeResize="0"/>
          <p:nvPr/>
        </p:nvPicPr>
        <p:blipFill rotWithShape="1">
          <a:blip r:embed="rId3">
            <a:alphaModFix/>
          </a:blip>
          <a:srcRect b="29153" l="31446" r="31848" t="28990"/>
          <a:stretch/>
        </p:blipFill>
        <p:spPr>
          <a:xfrm>
            <a:off x="3211280" y="1526433"/>
            <a:ext cx="7123578" cy="4567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2"/>
          <p:cNvSpPr txBox="1"/>
          <p:nvPr/>
        </p:nvSpPr>
        <p:spPr>
          <a:xfrm>
            <a:off x="720000" y="1793776"/>
            <a:ext cx="5837045" cy="46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Ensambles permiten mejorar rendimiento, al combinar muchos árboles (u otro tipo de clasificador/regresor débil).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la actualidad, algoritmos de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Gradient Boosting 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son los que mejor rendimiento tienen usando grandes volúmenes de datos tabulares.</a:t>
            </a:r>
            <a:endParaRPr/>
          </a:p>
        </p:txBody>
      </p:sp>
      <p:sp>
        <p:nvSpPr>
          <p:cNvPr id="418" name="Google Shape;418;p42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Cuáles son los conceptos centrales de la clase de hoy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3"/>
          <p:cNvSpPr txBox="1"/>
          <p:nvPr/>
        </p:nvSpPr>
        <p:spPr>
          <a:xfrm>
            <a:off x="720000" y="1793776"/>
            <a:ext cx="6341101" cy="3528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Clearing air around “Boosting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”, artículo en Towards Data Science: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https://towardsdatascience.com/clearing-air-around-boosting-28452bb63f9e</a:t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 Evolution of Boosting Algorithms From Machine Learning to Statistical Modelling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”, de Andreas Mayr et al.: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https://arxiv.org/abs/1403.1452</a:t>
            </a:r>
            <a:endParaRPr/>
          </a:p>
        </p:txBody>
      </p:sp>
      <p:sp>
        <p:nvSpPr>
          <p:cNvPr id="424" name="Google Shape;424;p43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Lecturas opcionales de profundización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1715" y="147320"/>
            <a:ext cx="1430282" cy="143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0378" y="570040"/>
            <a:ext cx="6829159" cy="133503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4"/>
          <p:cNvSpPr txBox="1"/>
          <p:nvPr/>
        </p:nvSpPr>
        <p:spPr>
          <a:xfrm>
            <a:off x="3063230" y="570040"/>
            <a:ext cx="6943454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sz="22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sz="22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sp>
        <p:nvSpPr>
          <p:cNvPr id="432" name="Google Shape;432;p44"/>
          <p:cNvSpPr txBox="1"/>
          <p:nvPr/>
        </p:nvSpPr>
        <p:spPr>
          <a:xfrm>
            <a:off x="491595" y="3258928"/>
            <a:ext cx="12562950" cy="150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Machine Learning</a:t>
            </a:r>
            <a:endParaRPr/>
          </a:p>
          <a:p>
            <a:pPr indent="0" lvl="0" marL="0" marR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Ensambles</a:t>
            </a:r>
            <a:endParaRPr/>
          </a:p>
        </p:txBody>
      </p:sp>
      <p:sp>
        <p:nvSpPr>
          <p:cNvPr id="433" name="Google Shape;433;p44"/>
          <p:cNvSpPr txBox="1"/>
          <p:nvPr/>
        </p:nvSpPr>
        <p:spPr>
          <a:xfrm>
            <a:off x="10685760" y="6417222"/>
            <a:ext cx="28485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Nicolás Alvarado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Dpto. Ciencia de la Computación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2004-05-06T09:28:21Z</dcterms:created>
  <dc:creator>Hans-Albert Löbel</dc:creator>
</cp:coreProperties>
</file>