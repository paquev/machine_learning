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7620000" cx="135461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55" roundtripDataSignature="AMtx7mio9mDhW0VKUh9hUt3t9zPFSRKF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customschemas.google.com/relationships/presentationmetadata" Target="metadata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4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5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6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7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8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9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0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4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5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6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7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8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9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0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4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5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6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7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8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9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40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4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4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44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45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6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7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48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9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1"/>
          <p:cNvSpPr txBox="1"/>
          <p:nvPr>
            <p:ph type="ctrTitle"/>
          </p:nvPr>
        </p:nvSpPr>
        <p:spPr>
          <a:xfrm>
            <a:off x="1015961" y="2367142"/>
            <a:ext cx="11514217" cy="1633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1"/>
          <p:cNvSpPr txBox="1"/>
          <p:nvPr>
            <p:ph idx="1" type="subTitle"/>
          </p:nvPr>
        </p:nvSpPr>
        <p:spPr>
          <a:xfrm>
            <a:off x="2031921" y="4318001"/>
            <a:ext cx="9482297" cy="1947333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lvl="0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20"/>
              </a:spcBef>
              <a:spcAft>
                <a:spcPts val="0"/>
              </a:spcAft>
              <a:buClr>
                <a:srgbClr val="888888"/>
              </a:buClr>
              <a:buSzPts val="3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51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1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1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2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2"/>
          <p:cNvSpPr txBox="1"/>
          <p:nvPr>
            <p:ph idx="1" type="body"/>
          </p:nvPr>
        </p:nvSpPr>
        <p:spPr>
          <a:xfrm>
            <a:off x="677307" y="1778000"/>
            <a:ext cx="12191524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2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2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2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3"/>
          <p:cNvSpPr txBox="1"/>
          <p:nvPr>
            <p:ph type="title"/>
          </p:nvPr>
        </p:nvSpPr>
        <p:spPr>
          <a:xfrm>
            <a:off x="1070052" y="4896558"/>
            <a:ext cx="11514217" cy="1513417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4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3"/>
          <p:cNvSpPr txBox="1"/>
          <p:nvPr>
            <p:ph idx="1" type="body"/>
          </p:nvPr>
        </p:nvSpPr>
        <p:spPr>
          <a:xfrm>
            <a:off x="1070052" y="3229683"/>
            <a:ext cx="11514217" cy="1666874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3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3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3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4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4"/>
          <p:cNvSpPr txBox="1"/>
          <p:nvPr>
            <p:ph idx="1" type="body"/>
          </p:nvPr>
        </p:nvSpPr>
        <p:spPr>
          <a:xfrm>
            <a:off x="752566" y="1975556"/>
            <a:ext cx="6660184" cy="5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25450" lvl="0" marL="4572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  <a:defRPr sz="31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68300" lvl="2" marL="1371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6" name="Google Shape;36;p54"/>
          <p:cNvSpPr txBox="1"/>
          <p:nvPr>
            <p:ph idx="2" type="body"/>
          </p:nvPr>
        </p:nvSpPr>
        <p:spPr>
          <a:xfrm>
            <a:off x="7638517" y="1975556"/>
            <a:ext cx="6660184" cy="5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25450" lvl="0" marL="4572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Char char="•"/>
              <a:defRPr sz="31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68300" lvl="2" marL="1371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7" name="Google Shape;37;p54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4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4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5"/>
          <p:cNvSpPr txBox="1"/>
          <p:nvPr>
            <p:ph type="title"/>
          </p:nvPr>
        </p:nvSpPr>
        <p:spPr>
          <a:xfrm>
            <a:off x="677307" y="305153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5"/>
          <p:cNvSpPr txBox="1"/>
          <p:nvPr>
            <p:ph idx="1" type="body"/>
          </p:nvPr>
        </p:nvSpPr>
        <p:spPr>
          <a:xfrm>
            <a:off x="677307" y="1705681"/>
            <a:ext cx="5985230" cy="710847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1pPr>
            <a:lvl2pPr indent="-228600" lvl="1" marL="914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b="1" sz="22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9pPr>
          </a:lstStyle>
          <a:p/>
        </p:txBody>
      </p:sp>
      <p:sp>
        <p:nvSpPr>
          <p:cNvPr id="43" name="Google Shape;43;p55"/>
          <p:cNvSpPr txBox="1"/>
          <p:nvPr>
            <p:ph idx="2" type="body"/>
          </p:nvPr>
        </p:nvSpPr>
        <p:spPr>
          <a:xfrm>
            <a:off x="677307" y="2416528"/>
            <a:ext cx="5985230" cy="439032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0005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55"/>
          <p:cNvSpPr txBox="1"/>
          <p:nvPr>
            <p:ph idx="3" type="body"/>
          </p:nvPr>
        </p:nvSpPr>
        <p:spPr>
          <a:xfrm>
            <a:off x="6881253" y="1705681"/>
            <a:ext cx="5987581" cy="710847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1pPr>
            <a:lvl2pPr indent="-228600" lvl="1" marL="914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b="1" sz="22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9pPr>
          </a:lstStyle>
          <a:p/>
        </p:txBody>
      </p:sp>
      <p:sp>
        <p:nvSpPr>
          <p:cNvPr id="45" name="Google Shape;45;p55"/>
          <p:cNvSpPr txBox="1"/>
          <p:nvPr>
            <p:ph idx="4" type="body"/>
          </p:nvPr>
        </p:nvSpPr>
        <p:spPr>
          <a:xfrm>
            <a:off x="6881253" y="2416528"/>
            <a:ext cx="5987581" cy="439032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00050" lvl="0" marL="457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6" name="Google Shape;46;p55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5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5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6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6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6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6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7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7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7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8"/>
          <p:cNvSpPr txBox="1"/>
          <p:nvPr>
            <p:ph type="title"/>
          </p:nvPr>
        </p:nvSpPr>
        <p:spPr>
          <a:xfrm>
            <a:off x="677310" y="303391"/>
            <a:ext cx="4456586" cy="1291167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8"/>
          <p:cNvSpPr txBox="1"/>
          <p:nvPr>
            <p:ph idx="1" type="body"/>
          </p:nvPr>
        </p:nvSpPr>
        <p:spPr>
          <a:xfrm>
            <a:off x="5296164" y="303392"/>
            <a:ext cx="7572667" cy="6503459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57200" lvl="0" marL="4572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1pPr>
            <a:lvl2pPr indent="-425450" lvl="1" marL="91440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Char char="–"/>
              <a:defRPr sz="31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68300" lvl="3" marL="18288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/>
            </a:lvl4pPr>
            <a:lvl5pPr indent="-368300" lvl="4" marL="22860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/>
            </a:lvl5pPr>
            <a:lvl6pPr indent="-368300" lvl="5" marL="27432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6pPr>
            <a:lvl7pPr indent="-368300" lvl="6" marL="3200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7pPr>
            <a:lvl8pPr indent="-368300" lvl="7" marL="3657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8pPr>
            <a:lvl9pPr indent="-368300" lvl="8" marL="41148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9pPr>
          </a:lstStyle>
          <a:p/>
        </p:txBody>
      </p:sp>
      <p:sp>
        <p:nvSpPr>
          <p:cNvPr id="61" name="Google Shape;61;p58"/>
          <p:cNvSpPr txBox="1"/>
          <p:nvPr>
            <p:ph idx="2" type="body"/>
          </p:nvPr>
        </p:nvSpPr>
        <p:spPr>
          <a:xfrm>
            <a:off x="677310" y="1594556"/>
            <a:ext cx="4456586" cy="52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indent="-228600" lvl="2" marL="1371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58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8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8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9"/>
          <p:cNvSpPr txBox="1"/>
          <p:nvPr>
            <p:ph type="title"/>
          </p:nvPr>
        </p:nvSpPr>
        <p:spPr>
          <a:xfrm>
            <a:off x="2655138" y="5334002"/>
            <a:ext cx="8127683" cy="629709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9"/>
          <p:cNvSpPr/>
          <p:nvPr>
            <p:ph idx="2" type="pic"/>
          </p:nvPr>
        </p:nvSpPr>
        <p:spPr>
          <a:xfrm>
            <a:off x="2655138" y="680861"/>
            <a:ext cx="8127683" cy="45720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9"/>
          <p:cNvSpPr txBox="1"/>
          <p:nvPr>
            <p:ph idx="1" type="body"/>
          </p:nvPr>
        </p:nvSpPr>
        <p:spPr>
          <a:xfrm>
            <a:off x="2655138" y="5963711"/>
            <a:ext cx="8127683" cy="894291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indent="-228600" lvl="2" marL="1371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59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9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9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0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0"/>
          <p:cNvSpPr txBox="1"/>
          <p:nvPr>
            <p:ph idx="1" type="body"/>
          </p:nvPr>
        </p:nvSpPr>
        <p:spPr>
          <a:xfrm rot="5400000">
            <a:off x="4258469" y="-1803162"/>
            <a:ext cx="5029200" cy="12191524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60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0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0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1"/>
          <p:cNvSpPr txBox="1"/>
          <p:nvPr>
            <p:ph type="title"/>
          </p:nvPr>
        </p:nvSpPr>
        <p:spPr>
          <a:xfrm rot="5400000">
            <a:off x="8992989" y="2257846"/>
            <a:ext cx="7224889" cy="338653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1"/>
          <p:cNvSpPr txBox="1"/>
          <p:nvPr>
            <p:ph idx="1" type="body"/>
          </p:nvPr>
        </p:nvSpPr>
        <p:spPr>
          <a:xfrm rot="5400000">
            <a:off x="2107036" y="-1015804"/>
            <a:ext cx="7224889" cy="9933835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61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1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1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0"/>
          <p:cNvSpPr txBox="1"/>
          <p:nvPr>
            <p:ph type="title"/>
          </p:nvPr>
        </p:nvSpPr>
        <p:spPr>
          <a:xfrm>
            <a:off x="677307" y="304800"/>
            <a:ext cx="12191524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50"/>
          <p:cNvSpPr txBox="1"/>
          <p:nvPr>
            <p:ph idx="1" type="body"/>
          </p:nvPr>
        </p:nvSpPr>
        <p:spPr>
          <a:xfrm>
            <a:off x="677307" y="1778000"/>
            <a:ext cx="12191524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indent="-457200" lvl="0" marL="45720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25450" lvl="1" marL="914400" marR="0" rtl="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–"/>
              <a:defRPr b="0" i="0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0050" lvl="2" marL="13716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8300" lvl="3" marL="18288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8300" lvl="4" marL="22860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»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8300" lvl="5" marL="27432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8300" lvl="6" marL="32004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8300" lvl="7" marL="36576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8300" lvl="8" marL="41148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0"/>
          <p:cNvSpPr txBox="1"/>
          <p:nvPr>
            <p:ph idx="10" type="dt"/>
          </p:nvPr>
        </p:nvSpPr>
        <p:spPr>
          <a:xfrm>
            <a:off x="677307" y="7062788"/>
            <a:ext cx="3160061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50"/>
          <p:cNvSpPr txBox="1"/>
          <p:nvPr>
            <p:ph idx="11" type="ftr"/>
          </p:nvPr>
        </p:nvSpPr>
        <p:spPr>
          <a:xfrm>
            <a:off x="4628971" y="7062788"/>
            <a:ext cx="428819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50"/>
          <p:cNvSpPr txBox="1"/>
          <p:nvPr>
            <p:ph idx="12" type="sldNum"/>
          </p:nvPr>
        </p:nvSpPr>
        <p:spPr>
          <a:xfrm>
            <a:off x="9708773" y="7062788"/>
            <a:ext cx="3160059" cy="40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75" lIns="101575" spcFirstLastPara="1" rIns="101575" wrap="square" tIns="507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Relationship Id="rId5" Type="http://schemas.openxmlformats.org/officeDocument/2006/relationships/image" Target="../media/image2.png"/><Relationship Id="rId6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7.png"/><Relationship Id="rId6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5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5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Relationship Id="rId4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png"/><Relationship Id="rId4" Type="http://schemas.openxmlformats.org/officeDocument/2006/relationships/image" Target="../media/image35.png"/><Relationship Id="rId5" Type="http://schemas.openxmlformats.org/officeDocument/2006/relationships/image" Target="../media/image22.png"/><Relationship Id="rId6" Type="http://schemas.openxmlformats.org/officeDocument/2006/relationships/image" Target="../media/image26.png"/><Relationship Id="rId7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Relationship Id="rId4" Type="http://schemas.openxmlformats.org/officeDocument/2006/relationships/image" Target="../media/image46.png"/><Relationship Id="rId5" Type="http://schemas.openxmlformats.org/officeDocument/2006/relationships/image" Target="../media/image3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8.png"/><Relationship Id="rId4" Type="http://schemas.openxmlformats.org/officeDocument/2006/relationships/image" Target="../media/image36.png"/><Relationship Id="rId5" Type="http://schemas.openxmlformats.org/officeDocument/2006/relationships/image" Target="../media/image55.png"/><Relationship Id="rId6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8.png"/><Relationship Id="rId4" Type="http://schemas.openxmlformats.org/officeDocument/2006/relationships/image" Target="../media/image36.png"/><Relationship Id="rId5" Type="http://schemas.openxmlformats.org/officeDocument/2006/relationships/image" Target="../media/image55.png"/><Relationship Id="rId6" Type="http://schemas.openxmlformats.org/officeDocument/2006/relationships/image" Target="../media/image4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4.png"/><Relationship Id="rId4" Type="http://schemas.openxmlformats.org/officeDocument/2006/relationships/image" Target="../media/image4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5.png"/><Relationship Id="rId4" Type="http://schemas.openxmlformats.org/officeDocument/2006/relationships/image" Target="../media/image5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9.png"/><Relationship Id="rId4" Type="http://schemas.openxmlformats.org/officeDocument/2006/relationships/image" Target="../media/image7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2.png"/><Relationship Id="rId4" Type="http://schemas.openxmlformats.org/officeDocument/2006/relationships/image" Target="../media/image5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1.png"/><Relationship Id="rId4" Type="http://schemas.openxmlformats.org/officeDocument/2006/relationships/image" Target="../media/image5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71715" y="147320"/>
            <a:ext cx="1430282" cy="1430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0378" y="570040"/>
            <a:ext cx="6829159" cy="133503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3063230" y="570040"/>
            <a:ext cx="6943454" cy="974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2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Pontificia Universidad Católica de Chile</a:t>
            </a:r>
            <a:endParaRPr b="0" i="0" sz="22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2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Escuela de Ingeniería</a:t>
            </a:r>
            <a:endParaRPr b="0" i="0" sz="22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2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Departamento de Ciencia de la Computación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491595" y="3258928"/>
            <a:ext cx="12562950" cy="1508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 de Machine Learning</a:t>
            </a:r>
            <a:endParaRPr/>
          </a:p>
          <a:p>
            <a:pPr indent="0" lvl="0" marL="0" marR="0" rtl="0" algn="ctr">
              <a:spcBef>
                <a:spcPts val="240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Support Vector Machines (SVM o Máquinas de Vectores de Soporte)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10685760" y="6417222"/>
            <a:ext cx="28485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Nicolás Alvarado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22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Dpto. Ciencia de la Computación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720000" y="1793776"/>
            <a:ext cx="7921850" cy="496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89" lvl="1" marL="457184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Comenzamos con los conceptos fundamentales de ML.</a:t>
            </a:r>
            <a:endParaRPr/>
          </a:p>
          <a:p>
            <a:pPr indent="-342889" lvl="1" marL="457184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Posteriormente discutimos k-NN, como algoritmo y como “filosofía”, enfatizando siempre el buscar lo semántico de alguna manera (volumen de datos, representación, distancia).</a:t>
            </a:r>
            <a:endParaRPr/>
          </a:p>
          <a:p>
            <a:pPr indent="-342889" lvl="1" marL="457184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Las últimas dos sesiones nos alejamos un poco de esta idea, al explorar los árboles y los ensambles.</a:t>
            </a:r>
            <a:endParaRPr/>
          </a:p>
          <a:p>
            <a:pPr indent="-342889" lvl="1" marL="457184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Hoy veremos una técnica que fue el estado del arte durante largo tiempo, y captura algunos conceptos centrales de lo que es ML moderno.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720000" y="209600"/>
            <a:ext cx="4736526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Recapitulemos un poco lo que hemos visto hasta ahora en el curso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/>
        </p:nvSpPr>
        <p:spPr>
          <a:xfrm>
            <a:off x="720000" y="209600"/>
            <a:ext cx="7256806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Conversemos sobre sesgos inductivos en los modelos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720000" y="2945904"/>
            <a:ext cx="4752528" cy="2376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97" lvl="1" marL="457195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¿Qué sesgos inductivos conocemos? 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¿Cuáles de estos son específicos para un problema de clasificación?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¿Alguno es estos apunta explícitamente a la generalización?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9074" y="2447981"/>
            <a:ext cx="3240000" cy="331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 txBox="1"/>
          <p:nvPr/>
        </p:nvSpPr>
        <p:spPr>
          <a:xfrm>
            <a:off x="719999" y="209600"/>
            <a:ext cx="8069293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Visualicemos un problema binario de clasificación en 2D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9074" y="2447981"/>
            <a:ext cx="3240000" cy="331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 txBox="1"/>
          <p:nvPr/>
        </p:nvSpPr>
        <p:spPr>
          <a:xfrm>
            <a:off x="719999" y="209600"/>
            <a:ext cx="8501341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¿Cómo podríamos separar estas clases usando una línea?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/>
        </p:nvSpPr>
        <p:spPr>
          <a:xfrm>
            <a:off x="719999" y="209600"/>
            <a:ext cx="8501341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¿Cómo podríamos separar estas clases usando una línea?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6"/>
          <p:cNvPicPr preferRelativeResize="0"/>
          <p:nvPr/>
        </p:nvPicPr>
        <p:blipFill rotWithShape="1">
          <a:blip r:embed="rId3">
            <a:alphaModFix/>
          </a:blip>
          <a:srcRect b="0" l="0" r="49790" t="0"/>
          <a:stretch/>
        </p:blipFill>
        <p:spPr>
          <a:xfrm>
            <a:off x="3019074" y="2440206"/>
            <a:ext cx="3240000" cy="3314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/>
          <p:nvPr/>
        </p:nvSpPr>
        <p:spPr>
          <a:xfrm>
            <a:off x="719999" y="209600"/>
            <a:ext cx="8501341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¿Cuál de estas líneas es la mejor, y por qué?</a:t>
            </a:r>
            <a:endParaRPr/>
          </a:p>
        </p:txBody>
      </p:sp>
      <p:pic>
        <p:nvPicPr>
          <p:cNvPr id="128" name="Google Shape;128;p7"/>
          <p:cNvPicPr preferRelativeResize="0"/>
          <p:nvPr/>
        </p:nvPicPr>
        <p:blipFill rotWithShape="1">
          <a:blip r:embed="rId3">
            <a:alphaModFix/>
          </a:blip>
          <a:srcRect b="0" l="0" r="49790" t="0"/>
          <a:stretch/>
        </p:blipFill>
        <p:spPr>
          <a:xfrm>
            <a:off x="3019074" y="2440206"/>
            <a:ext cx="3240000" cy="3314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3661" y="2448555"/>
            <a:ext cx="6455957" cy="331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8"/>
          <p:cNvSpPr txBox="1"/>
          <p:nvPr/>
        </p:nvSpPr>
        <p:spPr>
          <a:xfrm>
            <a:off x="720000" y="209600"/>
            <a:ext cx="569303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hiperplano óptimo 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es aquel que genera el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máximo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margen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de separación entre las clases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/>
        </p:nvSpPr>
        <p:spPr>
          <a:xfrm>
            <a:off x="720000" y="209600"/>
            <a:ext cx="5888654" cy="432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Hagamos un breve repaso de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álgebra lineal</a:t>
            </a:r>
            <a:endParaRPr/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 txBox="1"/>
          <p:nvPr/>
        </p:nvSpPr>
        <p:spPr>
          <a:xfrm>
            <a:off x="719999" y="2369840"/>
            <a:ext cx="5981061" cy="3672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97" lvl="1" marL="457195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¿Qué son vectores?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36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Norma de un vector, vectores unitarios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36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Suma y resta de vectores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36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¿Qué es el producto punto entre vectores, cómo se calcula y cómo se denota?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36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Vectores perpendiculares y producto punto.</a:t>
            </a:r>
            <a:endParaRPr/>
          </a:p>
          <a:p>
            <a:pPr indent="-215897" lvl="1" marL="457195" marR="0" rtl="0" algn="just">
              <a:lnSpc>
                <a:spcPct val="95000"/>
              </a:lnSpc>
              <a:spcBef>
                <a:spcPts val="36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 txBox="1"/>
          <p:nvPr/>
        </p:nvSpPr>
        <p:spPr>
          <a:xfrm>
            <a:off x="719999" y="209600"/>
            <a:ext cx="10229533" cy="432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Construyamos una expresión para la distancia entre un punto y un plano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5275" y="930692"/>
            <a:ext cx="4908073" cy="3670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5275" y="930692"/>
            <a:ext cx="4908074" cy="367038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1"/>
          <p:cNvSpPr txBox="1"/>
          <p:nvPr/>
        </p:nvSpPr>
        <p:spPr>
          <a:xfrm>
            <a:off x="719999" y="209600"/>
            <a:ext cx="10229533" cy="432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Construyamos una expresión para la distancia entre un punto y un plano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6845" y="1163071"/>
            <a:ext cx="4187994" cy="3133617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2"/>
          <p:cNvSpPr txBox="1"/>
          <p:nvPr/>
        </p:nvSpPr>
        <p:spPr>
          <a:xfrm>
            <a:off x="724397" y="4959594"/>
            <a:ext cx="8320360" cy="18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97" lvl="1" marL="457195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Calibri"/>
              <a:buChar char="•"/>
            </a:pPr>
            <a:r>
              <a:rPr b="0" i="0" lang="es-E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Para cualquier par de puntos x</a:t>
            </a:r>
            <a:r>
              <a:rPr b="0" baseline="-25000" i="0" lang="es-E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s-E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y x</a:t>
            </a:r>
            <a:r>
              <a:rPr b="0" baseline="-25000" i="0" lang="es-E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s-E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en el hiperplano, se cumple: 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Calibri"/>
              <a:buChar char="•"/>
            </a:pPr>
            <a:r>
              <a:rPr b="0" i="0" lang="es-E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El vector unitario normal al hiperplano está dado por: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Calibri"/>
              <a:buChar char="•"/>
            </a:pPr>
            <a:r>
              <a:rPr b="0" i="0" lang="es-E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Para cualquier punto x, la </a:t>
            </a:r>
            <a:r>
              <a:rPr b="0" i="0" lang="es-E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distancia signada</a:t>
            </a:r>
            <a:r>
              <a:rPr b="0" i="0" lang="es-E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entre él y el hiperplano está dada por:</a:t>
            </a:r>
            <a:endParaRPr/>
          </a:p>
        </p:txBody>
      </p:sp>
      <p:pic>
        <p:nvPicPr>
          <p:cNvPr id="159" name="Google Shape;15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0616" y="4890120"/>
            <a:ext cx="1637358" cy="357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0793" y="5440738"/>
            <a:ext cx="1200348" cy="292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30711" y="6496054"/>
            <a:ext cx="3454326" cy="69832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2"/>
          <p:cNvSpPr txBox="1"/>
          <p:nvPr/>
        </p:nvSpPr>
        <p:spPr>
          <a:xfrm>
            <a:off x="719999" y="209600"/>
            <a:ext cx="10229533" cy="432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Construyamos una expresión para la distancia entre un punto y un plano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/>
          <p:nvPr/>
        </p:nvSpPr>
        <p:spPr>
          <a:xfrm>
            <a:off x="720000" y="209600"/>
            <a:ext cx="855295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Distancia de un punto al hiperplano (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margen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) es la clave de los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SVM</a:t>
            </a:r>
            <a:endParaRPr/>
          </a:p>
        </p:txBody>
      </p:sp>
      <p:pic>
        <p:nvPicPr>
          <p:cNvPr id="168" name="Google Shape;1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4894" y="1043962"/>
            <a:ext cx="4339211" cy="420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97951" y="6099028"/>
            <a:ext cx="2950236" cy="8073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3"/>
          <p:cNvSpPr txBox="1"/>
          <p:nvPr/>
        </p:nvSpPr>
        <p:spPr>
          <a:xfrm>
            <a:off x="8406818" y="1132882"/>
            <a:ext cx="849976" cy="400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769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cxnSp>
        <p:nvCxnSpPr>
          <p:cNvPr id="171" name="Google Shape;171;p13"/>
          <p:cNvCxnSpPr/>
          <p:nvPr/>
        </p:nvCxnSpPr>
        <p:spPr>
          <a:xfrm flipH="1">
            <a:off x="7521689" y="1433737"/>
            <a:ext cx="979573" cy="316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2" name="Google Shape;172;p13"/>
          <p:cNvSpPr txBox="1"/>
          <p:nvPr/>
        </p:nvSpPr>
        <p:spPr>
          <a:xfrm>
            <a:off x="9290499" y="917439"/>
            <a:ext cx="1739002" cy="83099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4346" l="-349" r="0" t="0"/>
            </a:stretch>
          </a:blip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4894" y="1043962"/>
            <a:ext cx="4339211" cy="420619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4"/>
          <p:cNvSpPr txBox="1"/>
          <p:nvPr/>
        </p:nvSpPr>
        <p:spPr>
          <a:xfrm>
            <a:off x="720000" y="209600"/>
            <a:ext cx="855295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¿Cómo podemos plantear esto como un problema de optimización?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8669" y="2538413"/>
            <a:ext cx="182880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4"/>
          <p:cNvPicPr preferRelativeResize="0"/>
          <p:nvPr/>
        </p:nvPicPr>
        <p:blipFill rotWithShape="1">
          <a:blip r:embed="rId5">
            <a:alphaModFix/>
          </a:blip>
          <a:srcRect b="78234" l="0" r="0" t="0"/>
          <a:stretch/>
        </p:blipFill>
        <p:spPr>
          <a:xfrm>
            <a:off x="3964757" y="5802294"/>
            <a:ext cx="5584056" cy="239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4894" y="1043962"/>
            <a:ext cx="4339211" cy="420619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5"/>
          <p:cNvSpPr txBox="1"/>
          <p:nvPr/>
        </p:nvSpPr>
        <p:spPr>
          <a:xfrm>
            <a:off x="720000" y="209600"/>
            <a:ext cx="855295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¿Cómo podemos plantear esto como un problema de optimización?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94104" y="1217712"/>
            <a:ext cx="2950236" cy="807316"/>
          </a:xfrm>
          <a:prstGeom prst="rect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pic>
        <p:nvPicPr>
          <p:cNvPr id="188" name="Google Shape;188;p15"/>
          <p:cNvPicPr preferRelativeResize="0"/>
          <p:nvPr/>
        </p:nvPicPr>
        <p:blipFill rotWithShape="1">
          <a:blip r:embed="rId5">
            <a:alphaModFix/>
          </a:blip>
          <a:srcRect b="58638" l="0" r="0" t="0"/>
          <a:stretch/>
        </p:blipFill>
        <p:spPr>
          <a:xfrm>
            <a:off x="3964757" y="5802294"/>
            <a:ext cx="5584056" cy="455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"/>
          <p:cNvSpPr txBox="1"/>
          <p:nvPr/>
        </p:nvSpPr>
        <p:spPr>
          <a:xfrm>
            <a:off x="720000" y="209600"/>
            <a:ext cx="855295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¿Cómo podemos plantear esto como un problema de optimización?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4757" y="5802294"/>
            <a:ext cx="5584056" cy="1102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4894" y="1043962"/>
            <a:ext cx="4339211" cy="420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94104" y="1217712"/>
            <a:ext cx="2950236" cy="807316"/>
          </a:xfrm>
          <a:prstGeom prst="rect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"/>
          <p:cNvSpPr txBox="1"/>
          <p:nvPr/>
        </p:nvSpPr>
        <p:spPr>
          <a:xfrm>
            <a:off x="720000" y="209600"/>
            <a:ext cx="855295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¿Cómo podemos plantear esto como un problema de optimización?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6493" y="5795540"/>
            <a:ext cx="5584056" cy="1102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4894" y="1043962"/>
            <a:ext cx="4339211" cy="420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"/>
          <p:cNvSpPr txBox="1"/>
          <p:nvPr/>
        </p:nvSpPr>
        <p:spPr>
          <a:xfrm>
            <a:off x="720000" y="209600"/>
            <a:ext cx="855295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¿Cómo podemos plantear esto como un problema de optimización?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3653" y="697895"/>
            <a:ext cx="5508000" cy="5046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0356" y="5795540"/>
            <a:ext cx="5584056" cy="1102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9"/>
          <p:cNvSpPr txBox="1"/>
          <p:nvPr/>
        </p:nvSpPr>
        <p:spPr>
          <a:xfrm>
            <a:off x="720000" y="209600"/>
            <a:ext cx="855295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¿Cómo podemos plantear esto como un problema de optimización?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3653" y="697895"/>
            <a:ext cx="5508000" cy="5046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2853" y="5795540"/>
            <a:ext cx="5579061" cy="1102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5077" y="5742812"/>
            <a:ext cx="530041" cy="559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"/>
          <p:cNvSpPr txBox="1"/>
          <p:nvPr/>
        </p:nvSpPr>
        <p:spPr>
          <a:xfrm>
            <a:off x="720000" y="209600"/>
            <a:ext cx="855295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¿Cómo podemos plantear esto como un problema de optimización?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2173" y="5682209"/>
            <a:ext cx="5113224" cy="1102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3653" y="697895"/>
            <a:ext cx="5508000" cy="5046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1"/>
          <p:cNvPicPr preferRelativeResize="0"/>
          <p:nvPr/>
        </p:nvPicPr>
        <p:blipFill rotWithShape="1">
          <a:blip r:embed="rId3">
            <a:alphaModFix/>
          </a:blip>
          <a:srcRect b="13297" l="51732" r="34219" t="64484"/>
          <a:stretch/>
        </p:blipFill>
        <p:spPr>
          <a:xfrm>
            <a:off x="6886079" y="6708325"/>
            <a:ext cx="662589" cy="490608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720000" y="209600"/>
            <a:ext cx="7976886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Veamos cómo podemos resolver este problema</a:t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9530" y="785664"/>
            <a:ext cx="5276263" cy="1138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76725" y="3269594"/>
            <a:ext cx="6088112" cy="972454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/>
          <p:nvPr/>
        </p:nvSpPr>
        <p:spPr>
          <a:xfrm>
            <a:off x="6413029" y="2081808"/>
            <a:ext cx="484632" cy="97840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7133109" y="2277242"/>
            <a:ext cx="17028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Lagrangiano</a:t>
            </a:r>
            <a:endParaRPr sz="2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6413029" y="4415768"/>
            <a:ext cx="484632" cy="97840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21"/>
          <p:cNvPicPr preferRelativeResize="0"/>
          <p:nvPr/>
        </p:nvPicPr>
        <p:blipFill rotWithShape="1">
          <a:blip r:embed="rId3">
            <a:alphaModFix/>
          </a:blip>
          <a:srcRect b="0" l="0" r="0" t="52772"/>
          <a:stretch/>
        </p:blipFill>
        <p:spPr>
          <a:xfrm>
            <a:off x="2436099" y="6487422"/>
            <a:ext cx="4424980" cy="978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/>
          <p:cNvPicPr preferRelativeResize="0"/>
          <p:nvPr/>
        </p:nvPicPr>
        <p:blipFill rotWithShape="1">
          <a:blip r:embed="rId6">
            <a:alphaModFix/>
          </a:blip>
          <a:srcRect b="64166" l="0" r="85975" t="0"/>
          <a:stretch/>
        </p:blipFill>
        <p:spPr>
          <a:xfrm>
            <a:off x="3868001" y="5476123"/>
            <a:ext cx="936104" cy="864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76659" y="6700352"/>
            <a:ext cx="3400866" cy="604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/>
          <p:cNvPicPr preferRelativeResize="0"/>
          <p:nvPr/>
        </p:nvPicPr>
        <p:blipFill rotWithShape="1">
          <a:blip r:embed="rId3">
            <a:alphaModFix/>
          </a:blip>
          <a:srcRect b="49039" l="0" r="0" t="0"/>
          <a:stretch/>
        </p:blipFill>
        <p:spPr>
          <a:xfrm>
            <a:off x="4730093" y="5431690"/>
            <a:ext cx="4424980" cy="105573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7133110" y="4419163"/>
            <a:ext cx="432047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Imponiendo las condiciones de KKT, más algo de álgebra</a:t>
            </a:r>
            <a:endParaRPr sz="2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2"/>
          <p:cNvSpPr txBox="1"/>
          <p:nvPr/>
        </p:nvSpPr>
        <p:spPr>
          <a:xfrm>
            <a:off x="719999" y="209600"/>
            <a:ext cx="11093629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El problema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dual</a:t>
            </a: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, permite una interpretación más clara de los </a:t>
            </a:r>
            <a:r>
              <a:rPr lang="es-E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vectores de soporte</a:t>
            </a:r>
            <a:endParaRPr/>
          </a:p>
        </p:txBody>
      </p:sp>
      <p:pic>
        <p:nvPicPr>
          <p:cNvPr id="247" name="Google Shape;2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9437" y="2088900"/>
            <a:ext cx="4652145" cy="3593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4677" y="2664965"/>
            <a:ext cx="2084090" cy="875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52123" y="4652654"/>
            <a:ext cx="3400866" cy="604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 txBox="1"/>
          <p:nvPr/>
        </p:nvSpPr>
        <p:spPr>
          <a:xfrm>
            <a:off x="719999" y="209600"/>
            <a:ext cx="9437445" cy="504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¿Qué pasa si hay puntos dentro del margen o no linealmente separables?</a:t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text, light&#10;&#10;Description automatically generated" id="255" name="Google Shape;25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0722" y="1453508"/>
            <a:ext cx="4052889" cy="3845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5389" y="882492"/>
            <a:ext cx="5508000" cy="4996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4"/>
          <p:cNvPicPr preferRelativeResize="0"/>
          <p:nvPr/>
        </p:nvPicPr>
        <p:blipFill rotWithShape="1">
          <a:blip r:embed="rId4">
            <a:alphaModFix/>
          </a:blip>
          <a:srcRect b="0" l="0" r="33086" t="0"/>
          <a:stretch/>
        </p:blipFill>
        <p:spPr>
          <a:xfrm>
            <a:off x="4718412" y="6481702"/>
            <a:ext cx="2918754" cy="622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4"/>
          <p:cNvPicPr preferRelativeResize="0"/>
          <p:nvPr/>
        </p:nvPicPr>
        <p:blipFill rotWithShape="1">
          <a:blip r:embed="rId5">
            <a:alphaModFix/>
          </a:blip>
          <a:srcRect b="0" l="23211" r="67762" t="39666"/>
          <a:stretch/>
        </p:blipFill>
        <p:spPr>
          <a:xfrm>
            <a:off x="4319179" y="6508971"/>
            <a:ext cx="504056" cy="665119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4"/>
          <p:cNvSpPr txBox="1"/>
          <p:nvPr/>
        </p:nvSpPr>
        <p:spPr>
          <a:xfrm>
            <a:off x="720000" y="209600"/>
            <a:ext cx="6608734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Soft-margin SVM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 txBox="1"/>
          <p:nvPr/>
        </p:nvSpPr>
        <p:spPr>
          <a:xfrm>
            <a:off x="7637166" y="6607974"/>
            <a:ext cx="1164165" cy="43114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5389" y="882492"/>
            <a:ext cx="5508000" cy="4996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8411" y="6481702"/>
            <a:ext cx="4361957" cy="622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5"/>
          <p:cNvPicPr preferRelativeResize="0"/>
          <p:nvPr/>
        </p:nvPicPr>
        <p:blipFill rotWithShape="1">
          <a:blip r:embed="rId5">
            <a:alphaModFix/>
          </a:blip>
          <a:srcRect b="0" l="23211" r="67762" t="39666"/>
          <a:stretch/>
        </p:blipFill>
        <p:spPr>
          <a:xfrm>
            <a:off x="4319179" y="6508971"/>
            <a:ext cx="504056" cy="665119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720000" y="209600"/>
            <a:ext cx="6608734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Soft-margin SVM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 txBox="1"/>
          <p:nvPr/>
        </p:nvSpPr>
        <p:spPr>
          <a:xfrm>
            <a:off x="10030931" y="5222437"/>
            <a:ext cx="1691489" cy="49276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233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274" name="Google Shape;274;p25"/>
          <p:cNvSpPr/>
          <p:nvPr/>
        </p:nvSpPr>
        <p:spPr>
          <a:xfrm>
            <a:off x="9941421" y="4962128"/>
            <a:ext cx="1870508" cy="1013381"/>
          </a:xfrm>
          <a:prstGeom prst="rect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0891" y="1170222"/>
            <a:ext cx="5744356" cy="911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5057" y="5069938"/>
            <a:ext cx="5296024" cy="1404358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6"/>
          <p:cNvSpPr/>
          <p:nvPr/>
        </p:nvSpPr>
        <p:spPr>
          <a:xfrm>
            <a:off x="6413029" y="3263640"/>
            <a:ext cx="484632" cy="97840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6"/>
          <p:cNvSpPr txBox="1"/>
          <p:nvPr/>
        </p:nvSpPr>
        <p:spPr>
          <a:xfrm>
            <a:off x="720000" y="209600"/>
            <a:ext cx="6608734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Soft-margin SVM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27"/>
          <p:cNvPicPr preferRelativeResize="0"/>
          <p:nvPr/>
        </p:nvPicPr>
        <p:blipFill rotWithShape="1">
          <a:blip r:embed="rId3">
            <a:alphaModFix/>
          </a:blip>
          <a:srcRect b="16606" l="0" r="0" t="0"/>
          <a:stretch/>
        </p:blipFill>
        <p:spPr>
          <a:xfrm>
            <a:off x="2129291" y="1145704"/>
            <a:ext cx="4184057" cy="3240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7"/>
          <p:cNvPicPr preferRelativeResize="0"/>
          <p:nvPr/>
        </p:nvPicPr>
        <p:blipFill rotWithShape="1">
          <a:blip r:embed="rId4">
            <a:alphaModFix/>
          </a:blip>
          <a:srcRect b="16665" l="0" r="0" t="1"/>
          <a:stretch/>
        </p:blipFill>
        <p:spPr>
          <a:xfrm>
            <a:off x="7275685" y="1145704"/>
            <a:ext cx="4177904" cy="324036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7"/>
          <p:cNvSpPr txBox="1"/>
          <p:nvPr/>
        </p:nvSpPr>
        <p:spPr>
          <a:xfrm>
            <a:off x="2596605" y="6042248"/>
            <a:ext cx="7272808" cy="936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97" lvl="1" marL="457195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Calibri"/>
              <a:buChar char="•"/>
            </a:pPr>
            <a:r>
              <a:rPr b="0" i="0" lang="es-E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¿Cuál de las dos soluciones tiene un mayor valor para la constante C?</a:t>
            </a:r>
            <a:endParaRPr/>
          </a:p>
          <a:p>
            <a:pPr indent="-342897" lvl="1" marL="457195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Calibri"/>
              <a:buChar char="•"/>
            </a:pPr>
            <a:r>
              <a:rPr b="0" i="0" lang="es-E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¿Cómo puedo estimar el valor óptimo de C?</a:t>
            </a:r>
            <a:endParaRPr/>
          </a:p>
        </p:txBody>
      </p:sp>
      <p:sp>
        <p:nvSpPr>
          <p:cNvPr id="291" name="Google Shape;291;p27"/>
          <p:cNvSpPr txBox="1"/>
          <p:nvPr/>
        </p:nvSpPr>
        <p:spPr>
          <a:xfrm>
            <a:off x="3590377" y="4818113"/>
            <a:ext cx="126188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 = 1000</a:t>
            </a:r>
            <a:endParaRPr sz="2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7"/>
          <p:cNvSpPr txBox="1"/>
          <p:nvPr/>
        </p:nvSpPr>
        <p:spPr>
          <a:xfrm>
            <a:off x="8772969" y="4818113"/>
            <a:ext cx="11833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 = 0.01</a:t>
            </a:r>
            <a:endParaRPr sz="2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7"/>
          <p:cNvSpPr txBox="1"/>
          <p:nvPr/>
        </p:nvSpPr>
        <p:spPr>
          <a:xfrm>
            <a:off x="720000" y="209600"/>
            <a:ext cx="6608734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Soft-margin SVM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8"/>
          <p:cNvSpPr txBox="1"/>
          <p:nvPr/>
        </p:nvSpPr>
        <p:spPr>
          <a:xfrm>
            <a:off x="830250" y="8654"/>
            <a:ext cx="8350676" cy="1269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6425" lIns="112875" spcFirstLastPara="1" rIns="112875" wrap="square" tIns="56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Vamos a Colab…</a:t>
            </a:r>
            <a:endParaRPr/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3">
            <a:alphaModFix/>
          </a:blip>
          <a:srcRect b="29153" l="31446" r="31848" t="28990"/>
          <a:stretch/>
        </p:blipFill>
        <p:spPr>
          <a:xfrm>
            <a:off x="3211280" y="1526433"/>
            <a:ext cx="7123578" cy="4567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/>
        </p:nvSpPr>
        <p:spPr>
          <a:xfrm>
            <a:off x="2482838" y="2225825"/>
            <a:ext cx="85804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Veamos ahora un caso de estudio</a:t>
            </a:r>
            <a:endParaRPr/>
          </a:p>
        </p:txBody>
      </p:sp>
      <p:pic>
        <p:nvPicPr>
          <p:cNvPr id="305" name="Google Shape;30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4677" y="3722000"/>
            <a:ext cx="7386150" cy="1153138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6294" y="929680"/>
            <a:ext cx="11093549" cy="5193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0581" y="1217712"/>
            <a:ext cx="8387437" cy="5654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8533" y="2225824"/>
            <a:ext cx="9853205" cy="2906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2664" y="281609"/>
            <a:ext cx="5040808" cy="317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8451" y="3842118"/>
            <a:ext cx="4629235" cy="35833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7" name="Google Shape;327;p33"/>
          <p:cNvCxnSpPr/>
          <p:nvPr/>
        </p:nvCxnSpPr>
        <p:spPr>
          <a:xfrm>
            <a:off x="7565157" y="2729881"/>
            <a:ext cx="936104" cy="111223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8451" y="3842118"/>
            <a:ext cx="4629235" cy="3583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48" y="1001689"/>
            <a:ext cx="7450038" cy="1913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5"/>
          <p:cNvSpPr txBox="1"/>
          <p:nvPr/>
        </p:nvSpPr>
        <p:spPr>
          <a:xfrm>
            <a:off x="720000" y="4746104"/>
            <a:ext cx="7921850" cy="1686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89" lvl="1" marL="457184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Una opción es un mecanismo basado en vecino(s) cercano(s).</a:t>
            </a:r>
            <a:endParaRPr/>
          </a:p>
          <a:p>
            <a:pPr indent="-342889" lvl="1" marL="457184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El problema es, como siempre, la métrica de distancia.</a:t>
            </a:r>
            <a:endParaRPr/>
          </a:p>
          <a:p>
            <a:pPr indent="-342889" lvl="1" marL="457184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Una solución es que cada ejemplo tenga su propia métrica de distancia/similitud.</a:t>
            </a:r>
            <a:endParaRPr/>
          </a:p>
        </p:txBody>
      </p:sp>
      <p:sp>
        <p:nvSpPr>
          <p:cNvPr id="339" name="Google Shape;339;p35"/>
          <p:cNvSpPr txBox="1"/>
          <p:nvPr/>
        </p:nvSpPr>
        <p:spPr>
          <a:xfrm>
            <a:off x="720000" y="209600"/>
            <a:ext cx="531259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k-NN al rescate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1747" y="1187540"/>
            <a:ext cx="4201674" cy="298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6"/>
          <p:cNvSpPr txBox="1"/>
          <p:nvPr/>
        </p:nvSpPr>
        <p:spPr>
          <a:xfrm>
            <a:off x="719999" y="209600"/>
            <a:ext cx="7205197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Exemplar-SVMs presentan grandes ventajas de eficiencia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6" name="Google Shape;34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6178" y="1941364"/>
            <a:ext cx="8273783" cy="3730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7"/>
          <p:cNvSpPr txBox="1"/>
          <p:nvPr/>
        </p:nvSpPr>
        <p:spPr>
          <a:xfrm>
            <a:off x="720000" y="209600"/>
            <a:ext cx="531259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Formulación es extremadamente simple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2" name="Google Shape;35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3401" y="2153817"/>
            <a:ext cx="9499333" cy="2750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8"/>
          <p:cNvSpPr txBox="1"/>
          <p:nvPr/>
        </p:nvSpPr>
        <p:spPr>
          <a:xfrm>
            <a:off x="720000" y="209600"/>
            <a:ext cx="531259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Formulación es extremadamente simple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8"/>
          <p:cNvSpPr txBox="1"/>
          <p:nvPr/>
        </p:nvSpPr>
        <p:spPr>
          <a:xfrm>
            <a:off x="3892750" y="5802002"/>
            <a:ext cx="5466885" cy="103233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pic>
        <p:nvPicPr>
          <p:cNvPr id="359" name="Google Shape;35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8773" y="1577752"/>
            <a:ext cx="4913616" cy="3953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9"/>
          <p:cNvSpPr txBox="1"/>
          <p:nvPr/>
        </p:nvSpPr>
        <p:spPr>
          <a:xfrm>
            <a:off x="720000" y="209600"/>
            <a:ext cx="531259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Formulación es extremadamente simple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5" name="Google Shape;36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5723" y="1937792"/>
            <a:ext cx="9194692" cy="4118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0"/>
          <p:cNvSpPr txBox="1"/>
          <p:nvPr/>
        </p:nvSpPr>
        <p:spPr>
          <a:xfrm>
            <a:off x="720000" y="209600"/>
            <a:ext cx="531259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Resultados son sorprendentes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1" name="Google Shape;37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0154" y="2288947"/>
            <a:ext cx="9025830" cy="3042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1"/>
          <p:cNvSpPr txBox="1"/>
          <p:nvPr/>
        </p:nvSpPr>
        <p:spPr>
          <a:xfrm>
            <a:off x="720000" y="209600"/>
            <a:ext cx="531259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Resultados son sorprendentes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7" name="Google Shape;37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0233" y="1295413"/>
            <a:ext cx="6245672" cy="50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2"/>
          <p:cNvSpPr txBox="1"/>
          <p:nvPr/>
        </p:nvSpPr>
        <p:spPr>
          <a:xfrm>
            <a:off x="720000" y="209600"/>
            <a:ext cx="531259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Resultados son sorprendentes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3" name="Google Shape;38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6775" y="1217712"/>
            <a:ext cx="5312589" cy="5677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3"/>
          <p:cNvSpPr txBox="1"/>
          <p:nvPr/>
        </p:nvSpPr>
        <p:spPr>
          <a:xfrm>
            <a:off x="720000" y="209600"/>
            <a:ext cx="531259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Resultados son sorprendentes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9" name="Google Shape;38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3801" y="1217712"/>
            <a:ext cx="4878534" cy="5677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4"/>
          <p:cNvSpPr txBox="1"/>
          <p:nvPr/>
        </p:nvSpPr>
        <p:spPr>
          <a:xfrm>
            <a:off x="720000" y="209600"/>
            <a:ext cx="531259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Resultados son sorprendentes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5" name="Google Shape;39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6960" y="1433736"/>
            <a:ext cx="6828790" cy="5064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5"/>
          <p:cNvSpPr txBox="1"/>
          <p:nvPr/>
        </p:nvSpPr>
        <p:spPr>
          <a:xfrm>
            <a:off x="720000" y="209600"/>
            <a:ext cx="531259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Resultados son sorprendentes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1" name="Google Shape;40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6960" y="1589056"/>
            <a:ext cx="6828790" cy="4753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6"/>
          <p:cNvSpPr txBox="1"/>
          <p:nvPr/>
        </p:nvSpPr>
        <p:spPr>
          <a:xfrm>
            <a:off x="720000" y="209600"/>
            <a:ext cx="531259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Resultados son sorprendentes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7" name="Google Shape;40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8674" y="1649760"/>
            <a:ext cx="6828790" cy="467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7"/>
          <p:cNvSpPr txBox="1"/>
          <p:nvPr/>
        </p:nvSpPr>
        <p:spPr>
          <a:xfrm>
            <a:off x="720000" y="1793776"/>
            <a:ext cx="7921850" cy="46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89" lvl="1" marL="457184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Concepto de margen y su relación con la generalización.</a:t>
            </a:r>
            <a:endParaRPr/>
          </a:p>
          <a:p>
            <a:pPr indent="-342889" lvl="1" marL="457184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Bases geométricas de SVM</a:t>
            </a:r>
            <a:endParaRPr/>
          </a:p>
          <a:p>
            <a:pPr indent="-342889" lvl="1" marL="457184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Problema de aprendizaje como un problema de optimización, una característica de ML moderno.</a:t>
            </a:r>
            <a:endParaRPr/>
          </a:p>
          <a:p>
            <a:pPr indent="0" lvl="0" marL="914400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7"/>
          <p:cNvSpPr txBox="1"/>
          <p:nvPr/>
        </p:nvSpPr>
        <p:spPr>
          <a:xfrm>
            <a:off x="719999" y="209600"/>
            <a:ext cx="7133189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Cuáles son los conceptos centrales de la clase de hoy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8"/>
          <p:cNvSpPr txBox="1"/>
          <p:nvPr/>
        </p:nvSpPr>
        <p:spPr>
          <a:xfrm>
            <a:off x="720000" y="1793776"/>
            <a:ext cx="9001970" cy="3528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889" lvl="1" marL="457184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0" i="1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The Elements of Statistical Learning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”, de Hastie, Tibshirani y Friedman, secciones 4.5.2, 12.2: </a:t>
            </a: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https://web.stanford.edu/~hastie/ElemStatLearn/</a:t>
            </a:r>
            <a:endParaRPr/>
          </a:p>
          <a:p>
            <a:pPr indent="-342889" lvl="1" marL="457184" marR="0" rtl="0" algn="just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Calibri"/>
              <a:buChar char="•"/>
            </a:pP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0" i="1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Ensemble of Exemplar-SVMs for Object Detection and Beyond</a:t>
            </a:r>
            <a:r>
              <a:rPr b="0" i="0" lang="es-E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”, de T. Malisiewicz et al.: </a:t>
            </a:r>
            <a:r>
              <a:rPr b="0" i="0" lang="es-ES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https://www.cs.cmu.edu/~tmalisie/projects/iccv11/exemplarsvm-iccv11.pdf</a:t>
            </a:r>
            <a:endParaRPr/>
          </a:p>
        </p:txBody>
      </p:sp>
      <p:sp>
        <p:nvSpPr>
          <p:cNvPr id="419" name="Google Shape;419;p48"/>
          <p:cNvSpPr txBox="1"/>
          <p:nvPr/>
        </p:nvSpPr>
        <p:spPr>
          <a:xfrm>
            <a:off x="720000" y="209600"/>
            <a:ext cx="5312590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Lecturas optativas de profundización</a:t>
            </a:r>
            <a:endParaRPr sz="24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796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71715" y="147320"/>
            <a:ext cx="1430282" cy="1430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0378" y="570040"/>
            <a:ext cx="6829159" cy="133503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49"/>
          <p:cNvSpPr txBox="1"/>
          <p:nvPr/>
        </p:nvSpPr>
        <p:spPr>
          <a:xfrm>
            <a:off x="3063230" y="570040"/>
            <a:ext cx="6943454" cy="974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Pontificia Universidad Católica de Chile</a:t>
            </a:r>
            <a:endParaRPr sz="222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Escuela de Ingeniería</a:t>
            </a:r>
            <a:endParaRPr sz="222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Departamento de Ciencia de la Computación</a:t>
            </a:r>
            <a:endParaRPr/>
          </a:p>
        </p:txBody>
      </p:sp>
      <p:sp>
        <p:nvSpPr>
          <p:cNvPr id="427" name="Google Shape;427;p49"/>
          <p:cNvSpPr txBox="1"/>
          <p:nvPr/>
        </p:nvSpPr>
        <p:spPr>
          <a:xfrm>
            <a:off x="491595" y="3258928"/>
            <a:ext cx="12562950" cy="1508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 de Machine Learning</a:t>
            </a:r>
            <a:endParaRPr/>
          </a:p>
          <a:p>
            <a:pPr indent="0" lvl="0" marL="0" marR="0" rtl="0" algn="ctr">
              <a:spcBef>
                <a:spcPts val="240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Support Vector Machines (SVM o Máquinas de Vectores de Soporte)</a:t>
            </a:r>
            <a:endParaRPr/>
          </a:p>
        </p:txBody>
      </p:sp>
      <p:sp>
        <p:nvSpPr>
          <p:cNvPr id="428" name="Google Shape;428;p49"/>
          <p:cNvSpPr txBox="1"/>
          <p:nvPr/>
        </p:nvSpPr>
        <p:spPr>
          <a:xfrm>
            <a:off x="10685760" y="6417222"/>
            <a:ext cx="28485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Nicolás Alvarado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22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Dpto. Ciencia de la Computación</a:t>
            </a:r>
            <a:endParaRPr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2004-05-06T09:28:21Z</dcterms:created>
  <dc:creator>Hans-Albert Löbel</dc:creator>
</cp:coreProperties>
</file>