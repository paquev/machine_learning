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7620000" cx="135461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GCrZsQhIkvsNPa609B9lATV57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1015961" y="2367142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1070052" y="4896558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4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1070052" y="3229683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752566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7638517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6881253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6881253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/>
          <p:nvPr>
            <p:ph type="title"/>
          </p:nvPr>
        </p:nvSpPr>
        <p:spPr>
          <a:xfrm>
            <a:off x="677310" y="303391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" type="body"/>
          </p:nvPr>
        </p:nvSpPr>
        <p:spPr>
          <a:xfrm>
            <a:off x="5296164" y="303392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25450" lvl="1" marL="914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indent="-368300" lvl="5" marL="2743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indent="-368300" lvl="6" marL="3200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indent="-368300" lvl="7" marL="3657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indent="-368300" lvl="8" marL="4114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/>
        </p:txBody>
      </p:sp>
      <p:sp>
        <p:nvSpPr>
          <p:cNvPr id="61" name="Google Shape;61;p46"/>
          <p:cNvSpPr txBox="1"/>
          <p:nvPr>
            <p:ph idx="2" type="body"/>
          </p:nvPr>
        </p:nvSpPr>
        <p:spPr>
          <a:xfrm>
            <a:off x="677310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6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6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/>
          <p:nvPr>
            <p:ph type="title"/>
          </p:nvPr>
        </p:nvSpPr>
        <p:spPr>
          <a:xfrm>
            <a:off x="2655138" y="5334002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7"/>
          <p:cNvSpPr txBox="1"/>
          <p:nvPr>
            <p:ph idx="1" type="body"/>
          </p:nvPr>
        </p:nvSpPr>
        <p:spPr>
          <a:xfrm>
            <a:off x="2655138" y="5963711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" type="body"/>
          </p:nvPr>
        </p:nvSpPr>
        <p:spPr>
          <a:xfrm rot="5400000">
            <a:off x="4258469" y="-1803162"/>
            <a:ext cx="5029200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 rot="5400000">
            <a:off x="8992989" y="2257846"/>
            <a:ext cx="7224889" cy="3386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 rot="5400000">
            <a:off x="2107036" y="-1015804"/>
            <a:ext cx="7224889" cy="9933835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5450" lvl="1" marL="914400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b="0" i="0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0050" lvl="2" marL="1371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2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56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39.png"/><Relationship Id="rId7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5" Type="http://schemas.openxmlformats.org/officeDocument/2006/relationships/image" Target="../media/image48.png"/><Relationship Id="rId6" Type="http://schemas.openxmlformats.org/officeDocument/2006/relationships/image" Target="../media/image38.png"/><Relationship Id="rId7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7.png"/><Relationship Id="rId4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7.pn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Relationship Id="rId5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Extensiones de SVM</a:t>
            </a:r>
            <a:endParaRPr b="0" i="0" sz="2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2173" y="5682209"/>
            <a:ext cx="5113224" cy="110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3653" y="697895"/>
            <a:ext cx="5508000" cy="50465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719999" y="209600"/>
            <a:ext cx="547700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Recordemos lo que vimos la clase pasada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9437" y="2088900"/>
            <a:ext cx="4652145" cy="359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4535" y="3305944"/>
            <a:ext cx="2084090" cy="87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2123" y="4652654"/>
            <a:ext cx="3400866" cy="60459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2956645" y="2237169"/>
            <a:ext cx="257525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4425" l="-4264" r="-1893" t="-163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719999" y="209600"/>
            <a:ext cx="547700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Recordemos lo que vimos la clase pasada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389" y="882492"/>
            <a:ext cx="5508000" cy="499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8411" y="6481702"/>
            <a:ext cx="4361957" cy="62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5">
            <a:alphaModFix/>
          </a:blip>
          <a:srcRect b="0" l="23211" r="67762" t="39666"/>
          <a:stretch/>
        </p:blipFill>
        <p:spPr>
          <a:xfrm>
            <a:off x="4319179" y="6508971"/>
            <a:ext cx="504056" cy="665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719999" y="209600"/>
            <a:ext cx="547700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Recordemos lo que vimos la clase pasada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10751011" y="5222437"/>
            <a:ext cx="1691489" cy="4927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23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661501" y="4962128"/>
            <a:ext cx="1870508" cy="1013381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0891" y="1170222"/>
            <a:ext cx="5744356" cy="91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057" y="5069938"/>
            <a:ext cx="5296024" cy="140435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6413029" y="3263640"/>
            <a:ext cx="484632" cy="9784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719999" y="209600"/>
            <a:ext cx="547700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Recordemos lo que vimos la clase pasada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6765" y="929680"/>
            <a:ext cx="5978864" cy="93343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7"/>
          <p:cNvSpPr txBox="1"/>
          <p:nvPr/>
        </p:nvSpPr>
        <p:spPr>
          <a:xfrm>
            <a:off x="719999" y="209600"/>
            <a:ext cx="547700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Recordemos lo que vimos la clase pasada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174" y="2729880"/>
            <a:ext cx="4629235" cy="358331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 txBox="1"/>
          <p:nvPr/>
        </p:nvSpPr>
        <p:spPr>
          <a:xfrm>
            <a:off x="7853189" y="5754216"/>
            <a:ext cx="4242750" cy="79733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135" name="Google Shape;1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1261" y="2873896"/>
            <a:ext cx="3257432" cy="26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Todo esto es muy interesante, pero los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siguen siendo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clasificadores lineales binarios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676725" y="6741829"/>
            <a:ext cx="5924376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 continuación, introduciremos 2 modificaciones que nos permitirán resolver este tipo de problemas</a:t>
            </a:r>
            <a:endParaRPr/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501" y="2273436"/>
            <a:ext cx="3305636" cy="312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2349" y="2273436"/>
            <a:ext cx="3191320" cy="3029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 txBox="1"/>
          <p:nvPr/>
        </p:nvSpPr>
        <p:spPr>
          <a:xfrm>
            <a:off x="5836965" y="3089920"/>
            <a:ext cx="20522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980981" y="3737992"/>
            <a:ext cx="1728192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/>
        </p:nvSpPr>
        <p:spPr>
          <a:xfrm>
            <a:off x="720000" y="209600"/>
            <a:ext cx="770925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hacer clasificación con múltiples categorías?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6685" y="1008000"/>
            <a:ext cx="6465743" cy="547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/>
        </p:nvSpPr>
        <p:spPr>
          <a:xfrm>
            <a:off x="720000" y="209600"/>
            <a:ext cx="770925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hacer clasificación con múltiples categorías?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6685" y="1008000"/>
            <a:ext cx="6465742" cy="547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3713241" y="7005588"/>
            <a:ext cx="567263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¿Es esta superficie compatible con un SVM?</a:t>
            </a:r>
            <a:endParaRPr sz="20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/>
        </p:nvSpPr>
        <p:spPr>
          <a:xfrm>
            <a:off x="720000" y="209600"/>
            <a:ext cx="1094961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Aprender 3 clasificadores lineales simultáneamente hace más sentido en este contexto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4085" y="1008000"/>
            <a:ext cx="5690941" cy="547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 txBox="1"/>
          <p:nvPr/>
        </p:nvSpPr>
        <p:spPr>
          <a:xfrm>
            <a:off x="4113847" y="6760924"/>
            <a:ext cx="4871415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tipo de restricciones deberíamos imponer para poder hacerlo de forma conjunta?</a:t>
            </a:r>
            <a:endParaRPr sz="20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/>
        </p:nvSpPr>
        <p:spPr>
          <a:xfrm>
            <a:off x="720000" y="209600"/>
            <a:ext cx="7925277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extender la noción de margen, considerando ahora las predicciones de todos los clasificadores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3713241" y="7005588"/>
            <a:ext cx="567263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podríamos escribir ahora este problema?</a:t>
            </a:r>
            <a:endParaRPr sz="20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7" l="0" r="0" t="36"/>
          <a:stretch/>
        </p:blipFill>
        <p:spPr>
          <a:xfrm>
            <a:off x="3460701" y="1937792"/>
            <a:ext cx="7285900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Region 2014-09-09 at 16.02.39.png" id="177" name="Google Shape;1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2669" y="2668225"/>
            <a:ext cx="6614848" cy="15763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13"/>
          <p:cNvSpPr txBox="1"/>
          <p:nvPr/>
        </p:nvSpPr>
        <p:spPr>
          <a:xfrm>
            <a:off x="2280532" y="4439397"/>
            <a:ext cx="3772458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Restricción principal: el puntaje para la clase correcta debe ser superior al de cualquier otra clase más un </a:t>
            </a:r>
            <a:r>
              <a:rPr lang="es-E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endParaRPr baseline="-25000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3"/>
          <p:cNvCxnSpPr/>
          <p:nvPr/>
        </p:nvCxnSpPr>
        <p:spPr>
          <a:xfrm>
            <a:off x="5482018" y="3563308"/>
            <a:ext cx="0" cy="8760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80" name="Google Shape;180;p13"/>
          <p:cNvSpPr/>
          <p:nvPr/>
        </p:nvSpPr>
        <p:spPr>
          <a:xfrm>
            <a:off x="4612829" y="1145175"/>
            <a:ext cx="3240360" cy="568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Suma de las </a:t>
            </a:r>
            <a:r>
              <a:rPr lang="es-E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normas cuadráticas </a:t>
            </a: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 los pesos de los clasificadores </a:t>
            </a:r>
            <a:endParaRPr/>
          </a:p>
        </p:txBody>
      </p:sp>
      <p:cxnSp>
        <p:nvCxnSpPr>
          <p:cNvPr id="181" name="Google Shape;181;p13"/>
          <p:cNvCxnSpPr>
            <a:endCxn id="180" idx="2"/>
          </p:cNvCxnSpPr>
          <p:nvPr/>
        </p:nvCxnSpPr>
        <p:spPr>
          <a:xfrm flipH="1" rot="10800000">
            <a:off x="5549009" y="1714135"/>
            <a:ext cx="684000" cy="101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82" name="Google Shape;182;p13"/>
          <p:cNvSpPr/>
          <p:nvPr/>
        </p:nvSpPr>
        <p:spPr>
          <a:xfrm>
            <a:off x="8141221" y="4753111"/>
            <a:ext cx="2402431" cy="1117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Variable </a:t>
            </a:r>
            <a:r>
              <a:rPr i="1" lang="es-E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que mide para cada ejemplo la violación que produce del margen. </a:t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8356937" y="1412464"/>
            <a:ext cx="2808620" cy="6278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Suma de las violaciones del </a:t>
            </a:r>
            <a:r>
              <a:rPr lang="es-E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(variables </a:t>
            </a:r>
            <a:r>
              <a:rPr i="1" lang="es-E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5620941" y="6087501"/>
            <a:ext cx="2160240" cy="6262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r>
              <a:rPr i="1" lang="es-E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deben ser positivas</a:t>
            </a:r>
            <a:endParaRPr/>
          </a:p>
        </p:txBody>
      </p:sp>
      <p:cxnSp>
        <p:nvCxnSpPr>
          <p:cNvPr id="185" name="Google Shape;185;p13"/>
          <p:cNvCxnSpPr/>
          <p:nvPr/>
        </p:nvCxnSpPr>
        <p:spPr>
          <a:xfrm flipH="1" rot="10800000">
            <a:off x="6845077" y="2040345"/>
            <a:ext cx="1511860" cy="68953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86" name="Google Shape;186;p13"/>
          <p:cNvCxnSpPr/>
          <p:nvPr/>
        </p:nvCxnSpPr>
        <p:spPr>
          <a:xfrm flipH="1" rot="-5400000">
            <a:off x="5509863" y="4857182"/>
            <a:ext cx="1956300" cy="438000"/>
          </a:xfrm>
          <a:prstGeom prst="bentConnector3">
            <a:avLst>
              <a:gd fmla="val -281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87" name="Google Shape;187;p13"/>
          <p:cNvCxnSpPr/>
          <p:nvPr/>
        </p:nvCxnSpPr>
        <p:spPr>
          <a:xfrm>
            <a:off x="6907198" y="3648229"/>
            <a:ext cx="1107079" cy="15504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¿Es posible solucionar este problema con un SVM?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9683" y="1105915"/>
            <a:ext cx="7666772" cy="540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Una solución es generar un cambio de variables (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transformación del espacio de características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8773" y="1908744"/>
            <a:ext cx="5194120" cy="327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2789" y="5682209"/>
            <a:ext cx="5007992" cy="556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Una solución es generar un cambio de variables (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transformación del espacio de características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6646" y="1153708"/>
            <a:ext cx="6992181" cy="6111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/>
        </p:nvSpPr>
        <p:spPr>
          <a:xfrm>
            <a:off x="720000" y="209600"/>
            <a:ext cx="5260982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este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nuevo espacio 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 características, la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superficie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 decisión perfecta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sí es lineal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6646" y="1491037"/>
            <a:ext cx="6992181" cy="543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/>
        </p:nvSpPr>
        <p:spPr>
          <a:xfrm>
            <a:off x="720000" y="2369840"/>
            <a:ext cx="6629133" cy="417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ir probando a mano distintas transformaciones, claramente no escala en tiempo.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Además, espacios de 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 dimensionalidad muy grande son problemáticos de manejar (espacio + tiempo de ejecución).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Peor aún, la distancia euclidiana entre vectores deja de tener sentido (todos los puntos están en promedio igual de cerca).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¿Estamos forzados a vivir en un espacio de superficies de decisión lineal?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 pregunta es entonces, como podemos hacer más sistemático este mecanismo</a:t>
            </a:r>
            <a:endParaRPr i="1"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/>
        </p:nvSpPr>
        <p:spPr>
          <a:xfrm>
            <a:off x="720000" y="1937792"/>
            <a:ext cx="6522343" cy="4536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53" r="-2428" t="-21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 pequeño interludio…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¿Y qué tiene que ver esto con los SVM?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3" y="1001688"/>
            <a:ext cx="10413453" cy="5827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/>
          <p:cNvPicPr preferRelativeResize="0"/>
          <p:nvPr/>
        </p:nvPicPr>
        <p:blipFill rotWithShape="1">
          <a:blip r:embed="rId3">
            <a:alphaModFix/>
          </a:blip>
          <a:srcRect b="13297" l="51732" r="34219" t="64484"/>
          <a:stretch/>
        </p:blipFill>
        <p:spPr>
          <a:xfrm>
            <a:off x="6886079" y="6708325"/>
            <a:ext cx="662589" cy="49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719999" y="209600"/>
            <a:ext cx="11453669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Recordemos brevemente la resolución del problema de optimización asociado a un SVM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9530" y="785664"/>
            <a:ext cx="5276263" cy="1138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725" y="3269594"/>
            <a:ext cx="6088112" cy="97245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/>
          <p:nvPr/>
        </p:nvSpPr>
        <p:spPr>
          <a:xfrm>
            <a:off x="6413029" y="2081808"/>
            <a:ext cx="484632" cy="9784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7133109" y="2277242"/>
            <a:ext cx="14316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Lagrangiano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413029" y="4415768"/>
            <a:ext cx="484632" cy="9784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52772"/>
          <a:stretch/>
        </p:blipFill>
        <p:spPr>
          <a:xfrm>
            <a:off x="2436099" y="6487422"/>
            <a:ext cx="4424980" cy="97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 rotWithShape="1">
          <a:blip r:embed="rId6">
            <a:alphaModFix/>
          </a:blip>
          <a:srcRect b="64166" l="0" r="85975" t="0"/>
          <a:stretch/>
        </p:blipFill>
        <p:spPr>
          <a:xfrm>
            <a:off x="3868001" y="5476123"/>
            <a:ext cx="936104" cy="86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6659" y="6700352"/>
            <a:ext cx="3400866" cy="60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 rotWithShape="1">
          <a:blip r:embed="rId3">
            <a:alphaModFix/>
          </a:blip>
          <a:srcRect b="49039" l="0" r="0" t="0"/>
          <a:stretch/>
        </p:blipFill>
        <p:spPr>
          <a:xfrm>
            <a:off x="4730093" y="5431690"/>
            <a:ext cx="4424980" cy="1055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7133110" y="4419163"/>
            <a:ext cx="324035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Imponiendo las condiciones de KKT, más algo de álgebra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incorporar esto en los SVMs mediante algo conocido como el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kernel trick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0894" y="1073696"/>
            <a:ext cx="4564351" cy="1087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4068" y="2782468"/>
            <a:ext cx="4820596" cy="97385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/>
          <p:nvPr/>
        </p:nvSpPr>
        <p:spPr>
          <a:xfrm>
            <a:off x="6413029" y="2206404"/>
            <a:ext cx="288032" cy="54636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4275" y="4366644"/>
            <a:ext cx="5937762" cy="97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/>
          <p:nvPr/>
        </p:nvSpPr>
        <p:spPr>
          <a:xfrm>
            <a:off x="6413029" y="3810458"/>
            <a:ext cx="288032" cy="54636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28059" t="0"/>
          <a:stretch/>
        </p:blipFill>
        <p:spPr>
          <a:xfrm>
            <a:off x="4517655" y="6002950"/>
            <a:ext cx="4271639" cy="97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/>
          <p:nvPr/>
        </p:nvSpPr>
        <p:spPr>
          <a:xfrm>
            <a:off x="6416408" y="5446764"/>
            <a:ext cx="288032" cy="54636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17285" y="6241958"/>
            <a:ext cx="1080120" cy="537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3"/>
          <p:cNvPicPr preferRelativeResize="0"/>
          <p:nvPr/>
        </p:nvPicPr>
        <p:blipFill rotWithShape="1">
          <a:blip r:embed="rId3">
            <a:alphaModFix/>
          </a:blip>
          <a:srcRect b="66979" l="0" r="0" t="0"/>
          <a:stretch/>
        </p:blipFill>
        <p:spPr>
          <a:xfrm>
            <a:off x="2557165" y="2153816"/>
            <a:ext cx="4935984" cy="576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1182" y="1938609"/>
            <a:ext cx="2426765" cy="101826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incorporar esto en los SVMs mediante algo conocido como el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kernel trick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/>
          <p:cNvPicPr preferRelativeResize="0"/>
          <p:nvPr/>
        </p:nvPicPr>
        <p:blipFill rotWithShape="1">
          <a:blip r:embed="rId3">
            <a:alphaModFix/>
          </a:blip>
          <a:srcRect b="937" l="0" r="0" t="-1"/>
          <a:stretch/>
        </p:blipFill>
        <p:spPr>
          <a:xfrm>
            <a:off x="2557165" y="2153816"/>
            <a:ext cx="4935984" cy="172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1182" y="1938609"/>
            <a:ext cx="2426765" cy="101826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incorporar esto en los SVMs mediante algo conocido como el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kernel trick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7069" y="1701683"/>
            <a:ext cx="4935600" cy="2684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1182" y="1486475"/>
            <a:ext cx="2426765" cy="101826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720000" y="5034136"/>
            <a:ext cx="8320360" cy="20882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291" r="-1757" t="-438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720000" y="209600"/>
            <a:ext cx="56726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Podemos incorporar esto en los SVMs mediante algo conocido como el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kernel trick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 txBox="1"/>
          <p:nvPr/>
        </p:nvSpPr>
        <p:spPr>
          <a:xfrm>
            <a:off x="3936754" y="3607594"/>
            <a:ext cx="567263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Intuitivamente, 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¿qué mide un </a:t>
            </a:r>
            <a:r>
              <a:rPr i="1"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r>
              <a:rPr lang="es-E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i="1"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/>
        </p:nvSpPr>
        <p:spPr>
          <a:xfrm>
            <a:off x="719999" y="209600"/>
            <a:ext cx="592437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Intuitivamente, un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kernel 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mide la similitud entre dos vectores (pero en un espacio distinto)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6805" y="2261522"/>
            <a:ext cx="4528036" cy="1227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0741" y="3989714"/>
            <a:ext cx="5924376" cy="1188438"/>
          </a:xfrm>
          <a:prstGeom prst="rect">
            <a:avLst/>
          </a:prstGeom>
          <a:noFill/>
          <a:ln cap="sq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95" name="Google Shape;295;p27"/>
          <p:cNvSpPr/>
          <p:nvPr/>
        </p:nvSpPr>
        <p:spPr>
          <a:xfrm>
            <a:off x="3698635" y="6330281"/>
            <a:ext cx="5924376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298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¿Cuál es el </a:t>
            </a:r>
            <a:r>
              <a:rPr b="0" i="1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de los SVM que vimos inicialmente?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597" y="785664"/>
            <a:ext cx="7662961" cy="586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4557" y="966160"/>
            <a:ext cx="4234782" cy="42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8941" y="972112"/>
            <a:ext cx="4246129" cy="4242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720000" y="6186264"/>
            <a:ext cx="8320360" cy="108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114298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 par de preguntas para terminar Kernel-SVMs</a:t>
            </a:r>
            <a:endParaRPr b="0" i="1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97" lvl="1" marL="457195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Char char="•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¿Cuáles son los vectores de soporte en este caso?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Char char="•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se ve el margen en este caso?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/>
        </p:nvSpPr>
        <p:spPr>
          <a:xfrm>
            <a:off x="719999" y="209600"/>
            <a:ext cx="8645357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SVMs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continúan siendo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relevantes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en </a:t>
            </a:r>
            <a:r>
              <a:rPr i="1"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i="1"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2"/>
          <p:cNvSpPr txBox="1"/>
          <p:nvPr/>
        </p:nvSpPr>
        <p:spPr>
          <a:xfrm>
            <a:off x="719999" y="2945904"/>
            <a:ext cx="5765037" cy="252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SVMs son de los algoritmos 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off-the-shelf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con mejor rendimiento.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Simpleza, concepto de margen e incorporación de kernels son sus grandes fortalezas.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Han perdido fuerza últimamente debido a técnicas modernas de Deep Learning y de ensambles.</a:t>
            </a:r>
            <a:endParaRPr/>
          </a:p>
        </p:txBody>
      </p:sp>
      <p:pic>
        <p:nvPicPr>
          <p:cNvPr id="314" name="Google Shape;3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183" y="2801888"/>
            <a:ext cx="3449382" cy="266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 txBox="1"/>
          <p:nvPr/>
        </p:nvSpPr>
        <p:spPr>
          <a:xfrm>
            <a:off x="720000" y="1793776"/>
            <a:ext cx="9001970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 Elements of Statistical Learning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”, de Hastie, Tibshirani y Friedman, sección 12.3: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https://web.stanford.edu/~hastie/ElemStatLearn/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“SVM Parameter Tuning”: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https://towardsdatascience.com/a-guide-to-svm-parameter-tuning-8bfe6b8a452c</a:t>
            </a: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Lecturas optativas de profundización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7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328" name="Google Shape;328;p37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Extensiones de SVM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7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2004-05-06T09:28:21Z</dcterms:created>
  <dc:creator>Hans-Albert Löbel</dc:creator>
</cp:coreProperties>
</file>